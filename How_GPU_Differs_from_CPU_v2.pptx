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76" r:id="rId30"/>
    <p:sldId id="264" r:id="rId14"/>
    <p:sldId id="265" r:id="rId15"/>
    <p:sldId id="266" r:id="rId16"/>
    <p:sldId id="277" r:id="rId31"/>
    <p:sldId id="267" r:id="rId17"/>
    <p:sldId id="268" r:id="rId18"/>
    <p:sldId id="278" r:id="rId32"/>
    <p:sldId id="269" r:id="rId19"/>
    <p:sldId id="279" r:id="rId33"/>
    <p:sldId id="270" r:id="rId20"/>
    <p:sldId id="280" r:id="rId34"/>
    <p:sldId id="271" r:id="rId21"/>
    <p:sldId id="272" r:id="rId22"/>
    <p:sldId id="273" r:id="rId23"/>
    <p:sldId id="281" r:id="rId35"/>
    <p:sldId id="274" r:id="rId24"/>
    <p:sldId id="275" r:id="rId25"/>
  </p:sldIdLst>
  <p:sldSz cx="18288000" cy="10287000"/>
  <p:notesSz cx="6858000" cy="9144000"/>
  <p:embeddedFontLst>
    <p:embeddedFont>
      <p:font typeface="Cooper BT Bold" charset="1" panose="0208080404030B020404"/>
      <p:regular r:id="rId26"/>
    </p:embeddedFont>
    <p:embeddedFont>
      <p:font typeface="DM Sans Bold" charset="1" panose="00000000000000000000"/>
      <p:regular r:id="rId27"/>
    </p:embeddedFont>
    <p:embeddedFont>
      <p:font typeface="Bree Serif" charset="1" panose="02000503040000020004"/>
      <p:regular r:id="rId28"/>
    </p:embeddedFont>
    <p:embeddedFont>
      <p:font typeface="DM San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30" Type="http://schemas.openxmlformats.org/officeDocument/2006/relationships/slide" Target="slides/slide21.xml"/>
  <Relationship Id="rId31" Type="http://schemas.openxmlformats.org/officeDocument/2006/relationships/slide" Target="slides/slide22.xml"/>
  <Relationship Id="rId32" Type="http://schemas.openxmlformats.org/officeDocument/2006/relationships/slide" Target="slides/slide23.xml"/>
  <Relationship Id="rId33" Type="http://schemas.openxmlformats.org/officeDocument/2006/relationships/slide" Target="slides/slide24.xml"/>
  <Relationship Id="rId34" Type="http://schemas.openxmlformats.org/officeDocument/2006/relationships/slide" Target="slides/slide25.xml"/>
  <Relationship Id="rId35" Type="http://schemas.openxmlformats.org/officeDocument/2006/relationships/slide" Target="slides/slide26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50" Type="http://schemas.openxmlformats.org/officeDocument/2006/relationships/slide" Target="slide4.xml"/><Relationship Id="rId51" Type="http://schemas.openxmlformats.org/officeDocument/2006/relationships/slide" Target="slide5.xml"/><Relationship Id="rId52" Type="http://schemas.openxmlformats.org/officeDocument/2006/relationships/slide" Target="slide8.xml"/><Relationship Id="rId53" Type="http://schemas.openxmlformats.org/officeDocument/2006/relationships/slide" Target="slide16.xml"/><Relationship Id="rId54" Type="http://schemas.openxmlformats.org/officeDocument/2006/relationships/slide" Target="slide18.xml"/><Relationship Id="rId55" Type="http://schemas.openxmlformats.org/officeDocument/2006/relationships/slide" Target="slide19.xml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50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50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50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50" Type="http://schemas.openxmlformats.org/officeDocument/2006/relationships/slide" Target="slide2.xml"/></Relationships>
</file>

<file path=ppt/slides/_rels/slide2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50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50" Type="http://schemas.openxmlformats.org/officeDocument/2006/relationships/slide" Target="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71525" y="1757684"/>
            <a:ext cx="9906000" cy="5810250"/>
            <a:chOff x="0" y="0"/>
            <a:chExt cx="13208000" cy="774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08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13208000">
                  <a:moveTo>
                    <a:pt x="6604000" y="0"/>
                  </a:moveTo>
                  <a:lnTo>
                    <a:pt x="7924800" y="1936750"/>
                  </a:lnTo>
                  <a:lnTo>
                    <a:pt x="10830560" y="619760"/>
                  </a:lnTo>
                  <a:lnTo>
                    <a:pt x="10302240" y="2788920"/>
                  </a:lnTo>
                  <a:lnTo>
                    <a:pt x="13208000" y="2479040"/>
                  </a:lnTo>
                  <a:lnTo>
                    <a:pt x="10830560" y="4028440"/>
                  </a:lnTo>
                  <a:lnTo>
                    <a:pt x="13208000" y="5422900"/>
                  </a:lnTo>
                  <a:lnTo>
                    <a:pt x="9906000" y="5267960"/>
                  </a:lnTo>
                  <a:lnTo>
                    <a:pt x="10830560" y="7437120"/>
                  </a:lnTo>
                  <a:lnTo>
                    <a:pt x="7660640" y="5965190"/>
                  </a:lnTo>
                  <a:lnTo>
                    <a:pt x="6339840" y="7747000"/>
                  </a:lnTo>
                  <a:lnTo>
                    <a:pt x="5283200" y="5810250"/>
                  </a:lnTo>
                  <a:lnTo>
                    <a:pt x="1981200" y="7282180"/>
                  </a:lnTo>
                  <a:lnTo>
                    <a:pt x="2905760" y="5113020"/>
                  </a:lnTo>
                  <a:lnTo>
                    <a:pt x="0" y="4803140"/>
                  </a:lnTo>
                  <a:lnTo>
                    <a:pt x="2641600" y="3486150"/>
                  </a:lnTo>
                  <a:lnTo>
                    <a:pt x="264160" y="2091690"/>
                  </a:lnTo>
                  <a:lnTo>
                    <a:pt x="3698240" y="2324100"/>
                  </a:lnTo>
                  <a:lnTo>
                    <a:pt x="4622800" y="30988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208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863916" y="2151025"/>
            <a:ext cx="7107275" cy="7107275"/>
          </a:xfrm>
          <a:custGeom>
            <a:avLst/>
            <a:gdLst/>
            <a:ahLst/>
            <a:cxnLst/>
            <a:rect r="r" b="b" t="t" l="l"/>
            <a:pathLst>
              <a:path h="7107275" w="7107275">
                <a:moveTo>
                  <a:pt x="0" y="0"/>
                </a:moveTo>
                <a:lnTo>
                  <a:pt x="7107274" y="0"/>
                </a:lnTo>
                <a:lnTo>
                  <a:pt x="7107274" y="7107275"/>
                </a:lnTo>
                <a:lnTo>
                  <a:pt x="0" y="7107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5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873036" y="3867948"/>
            <a:ext cx="8572500" cy="169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6375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HOW GPU</a:t>
            </a:r>
          </a:p>
          <a:p>
            <a:pPr algn="l">
              <a:lnSpc>
                <a:spcPts val="6502"/>
              </a:lnSpc>
            </a:pPr>
            <a:r>
              <a:rPr lang="en-US" sz="6375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DIFFERS FROM CPU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5886" y="3858423"/>
            <a:ext cx="8572500" cy="169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6375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HOW GPU</a:t>
            </a:r>
          </a:p>
          <a:p>
            <a:pPr algn="l">
              <a:lnSpc>
                <a:spcPts val="6502"/>
              </a:lnSpc>
            </a:pPr>
            <a:r>
              <a:rPr lang="en-US" sz="6375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DIFFERS FROM CPU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000" y="7877175"/>
            <a:ext cx="9525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ONE SMART BOSS  vs  THOUSANDS OF WORKERS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1670" y="3396892"/>
            <a:ext cx="2379910" cy="2379910"/>
            <a:chOff x="0" y="0"/>
            <a:chExt cx="1524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247F78"/>
            </a:solidFill>
            <a:ln w="66675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524000" cy="148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259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2761580" y="4810125"/>
            <a:ext cx="1524670" cy="0"/>
          </a:xfrm>
          <a:prstGeom prst="line">
            <a:avLst/>
          </a:prstGeom>
          <a:ln cap="flat" w="95250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615597" y="3396892"/>
            <a:ext cx="2379910" cy="2379910"/>
            <a:chOff x="0" y="0"/>
            <a:chExt cx="1524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D94B2B"/>
            </a:solidFill>
            <a:ln w="66675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52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5980703" y="4775082"/>
            <a:ext cx="1163047" cy="35043"/>
          </a:xfrm>
          <a:prstGeom prst="line">
            <a:avLst/>
          </a:prstGeom>
          <a:ln cap="flat" w="95250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6406413" y="3396892"/>
            <a:ext cx="2379910" cy="2379910"/>
            <a:chOff x="0" y="0"/>
            <a:chExt cx="1524000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247F78"/>
            </a:solidFill>
            <a:ln w="66675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152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8770365" y="4782197"/>
            <a:ext cx="1230885" cy="27928"/>
          </a:xfrm>
          <a:prstGeom prst="line">
            <a:avLst/>
          </a:prstGeom>
          <a:ln cap="flat" w="95250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9263913" y="3396892"/>
            <a:ext cx="2379910" cy="2379910"/>
            <a:chOff x="0" y="0"/>
            <a:chExt cx="15240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D94B2B"/>
            </a:solidFill>
            <a:ln w="66675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52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1625941" y="4793506"/>
            <a:ext cx="1232809" cy="16619"/>
          </a:xfrm>
          <a:prstGeom prst="line">
            <a:avLst/>
          </a:prstGeom>
          <a:ln cap="flat" w="95250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2121413" y="3396892"/>
            <a:ext cx="2379910" cy="2379910"/>
            <a:chOff x="0" y="0"/>
            <a:chExt cx="1524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247F78"/>
            </a:solidFill>
            <a:ln w="66675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52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4483923" y="4790737"/>
            <a:ext cx="1232327" cy="19388"/>
          </a:xfrm>
          <a:prstGeom prst="line">
            <a:avLst/>
          </a:prstGeom>
          <a:ln cap="flat" w="95250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4874517" y="3396892"/>
            <a:ext cx="2379910" cy="2379910"/>
            <a:chOff x="0" y="0"/>
            <a:chExt cx="1524000" cy="1524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841" y="0"/>
                    <a:pt x="1524000" y="341159"/>
                    <a:pt x="1524000" y="762000"/>
                  </a:cubicBezTo>
                  <a:cubicBezTo>
                    <a:pt x="1524000" y="1182841"/>
                    <a:pt x="1182841" y="1524000"/>
                    <a:pt x="762000" y="1524000"/>
                  </a:cubicBezTo>
                  <a:cubicBezTo>
                    <a:pt x="341159" y="1524000"/>
                    <a:pt x="0" y="1182841"/>
                    <a:pt x="0" y="762000"/>
                  </a:cubicBezTo>
                  <a:cubicBezTo>
                    <a:pt x="0" y="341159"/>
                    <a:pt x="341159" y="0"/>
                    <a:pt x="762000" y="0"/>
                  </a:cubicBezTo>
                  <a:close/>
                </a:path>
              </a:pathLst>
            </a:custGeom>
            <a:solidFill>
              <a:srgbClr val="D94B2B"/>
            </a:solidFill>
            <a:ln w="66675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1524000" cy="149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>
            <a:hlinkClick r:id="rId50" action="ppaction://hlinksldjump"/>
          </p:cNvPr>
          <p:cNvSpPr/>
          <p:nvPr/>
        </p:nvSpPr>
        <p:spPr>
          <a:xfrm flipH="false" flipV="false" rot="0">
            <a:off x="162256" y="3549368"/>
            <a:ext cx="2818738" cy="2227434"/>
          </a:xfrm>
          <a:custGeom>
            <a:avLst/>
            <a:gdLst/>
            <a:ahLst/>
            <a:cxnLst/>
            <a:rect r="r" b="b" t="t" l="l"/>
            <a:pathLst>
              <a:path h="2227434" w="2818738">
                <a:moveTo>
                  <a:pt x="0" y="0"/>
                </a:moveTo>
                <a:lnTo>
                  <a:pt x="2818738" y="0"/>
                </a:lnTo>
                <a:lnTo>
                  <a:pt x="2818738" y="2227434"/>
                </a:lnTo>
                <a:lnTo>
                  <a:pt x="0" y="222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6" id="36">
            <a:hlinkClick r:id="rId51" action="ppaction://hlinksldjump"/>
          </p:cNvPr>
          <p:cNvSpPr/>
          <p:nvPr/>
        </p:nvSpPr>
        <p:spPr>
          <a:xfrm flipH="false" flipV="false" rot="0">
            <a:off x="3382450" y="3358384"/>
            <a:ext cx="2846204" cy="2183296"/>
          </a:xfrm>
          <a:custGeom>
            <a:avLst/>
            <a:gdLst/>
            <a:ahLst/>
            <a:cxnLst/>
            <a:rect r="r" b="b" t="t" l="l"/>
            <a:pathLst>
              <a:path h="2183296" w="2846204">
                <a:moveTo>
                  <a:pt x="0" y="0"/>
                </a:moveTo>
                <a:lnTo>
                  <a:pt x="2846204" y="0"/>
                </a:lnTo>
                <a:lnTo>
                  <a:pt x="2846204" y="2183295"/>
                </a:lnTo>
                <a:lnTo>
                  <a:pt x="0" y="2183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0362"/>
            </a:stretch>
          </a:blipFill>
        </p:spPr>
      </p:sp>
      <p:sp>
        <p:nvSpPr>
          <p:cNvPr name="Freeform 37" id="37">
            <a:hlinkClick r:id="rId52" action="ppaction://hlinksldjump"/>
          </p:cNvPr>
          <p:cNvSpPr/>
          <p:nvPr/>
        </p:nvSpPr>
        <p:spPr>
          <a:xfrm flipH="false" flipV="false" rot="0">
            <a:off x="6228654" y="3313038"/>
            <a:ext cx="2828922" cy="2228641"/>
          </a:xfrm>
          <a:custGeom>
            <a:avLst/>
            <a:gdLst/>
            <a:ahLst/>
            <a:cxnLst/>
            <a:rect r="r" b="b" t="t" l="l"/>
            <a:pathLst>
              <a:path h="2228641" w="2828922">
                <a:moveTo>
                  <a:pt x="0" y="0"/>
                </a:moveTo>
                <a:lnTo>
                  <a:pt x="2828923" y="0"/>
                </a:lnTo>
                <a:lnTo>
                  <a:pt x="2828923" y="2228641"/>
                </a:lnTo>
                <a:lnTo>
                  <a:pt x="0" y="2228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704" t="-49697" r="-37923" b="-73236"/>
            </a:stretch>
          </a:blipFill>
        </p:spPr>
      </p:sp>
      <p:sp>
        <p:nvSpPr>
          <p:cNvPr name="Freeform 38" id="38">
            <a:hlinkClick r:id="rId54" action="ppaction://hlinksldjump"/>
          </p:cNvPr>
          <p:cNvSpPr/>
          <p:nvPr/>
        </p:nvSpPr>
        <p:spPr>
          <a:xfrm flipH="false" flipV="false" rot="0">
            <a:off x="12124444" y="3279416"/>
            <a:ext cx="2614861" cy="2614861"/>
          </a:xfrm>
          <a:custGeom>
            <a:avLst/>
            <a:gdLst/>
            <a:ahLst/>
            <a:cxnLst/>
            <a:rect r="r" b="b" t="t" l="l"/>
            <a:pathLst>
              <a:path h="2614861" w="2614861">
                <a:moveTo>
                  <a:pt x="0" y="0"/>
                </a:moveTo>
                <a:lnTo>
                  <a:pt x="2614861" y="0"/>
                </a:lnTo>
                <a:lnTo>
                  <a:pt x="2614861" y="2614862"/>
                </a:lnTo>
                <a:lnTo>
                  <a:pt x="0" y="2614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9" id="39">
            <a:hlinkClick r:id="rId55" action="ppaction://hlinksldjump"/>
          </p:cNvPr>
          <p:cNvSpPr/>
          <p:nvPr/>
        </p:nvSpPr>
        <p:spPr>
          <a:xfrm flipH="false" flipV="false" rot="0">
            <a:off x="14874517" y="3396892"/>
            <a:ext cx="2387913" cy="2408261"/>
          </a:xfrm>
          <a:custGeom>
            <a:avLst/>
            <a:gdLst/>
            <a:ahLst/>
            <a:cxnLst/>
            <a:rect r="r" b="b" t="t" l="l"/>
            <a:pathLst>
              <a:path h="2408261" w="2387913">
                <a:moveTo>
                  <a:pt x="0" y="0"/>
                </a:moveTo>
                <a:lnTo>
                  <a:pt x="2387913" y="0"/>
                </a:lnTo>
                <a:lnTo>
                  <a:pt x="2387913" y="2408261"/>
                </a:lnTo>
                <a:lnTo>
                  <a:pt x="0" y="240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6571"/>
            </a:stretch>
          </a:blipFill>
        </p:spPr>
      </p:sp>
      <p:sp>
        <p:nvSpPr>
          <p:cNvPr name="Freeform 40" id="40">
            <a:hlinkClick r:id="rId53" action="ppaction://hlinksldjump"/>
          </p:cNvPr>
          <p:cNvSpPr/>
          <p:nvPr/>
        </p:nvSpPr>
        <p:spPr>
          <a:xfrm flipH="false" flipV="false" rot="0">
            <a:off x="9370557" y="3778655"/>
            <a:ext cx="2276048" cy="1616384"/>
          </a:xfrm>
          <a:custGeom>
            <a:avLst/>
            <a:gdLst/>
            <a:ahLst/>
            <a:cxnLst/>
            <a:rect r="r" b="b" t="t" l="l"/>
            <a:pathLst>
              <a:path h="1616384" w="2276048">
                <a:moveTo>
                  <a:pt x="0" y="0"/>
                </a:moveTo>
                <a:lnTo>
                  <a:pt x="2276048" y="0"/>
                </a:lnTo>
                <a:lnTo>
                  <a:pt x="2276048" y="1616384"/>
                </a:lnTo>
                <a:lnTo>
                  <a:pt x="0" y="16163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9408" t="-33103" r="-10292" b="-40714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610298" y="153405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Our Journey Today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02  •  COMPUTER SYSTEMS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0298" y="1448330"/>
            <a:ext cx="14287500" cy="69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Our Journey Today</a:t>
            </a:r>
          </a:p>
        </p:txBody>
      </p:sp>
      <p:sp>
        <p:nvSpPr>
          <p:cNvPr name="TextBox 44" id="44">
            <a:hlinkClick r:id="rId50" action="ppaction://hlinksldjump"/>
          </p:cNvPr>
          <p:cNvSpPr txBox="true"/>
          <p:nvPr/>
        </p:nvSpPr>
        <p:spPr>
          <a:xfrm rot="0">
            <a:off x="68120" y="5919677"/>
            <a:ext cx="331433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Processor basics</a:t>
            </a:r>
          </a:p>
        </p:txBody>
      </p:sp>
      <p:sp>
        <p:nvSpPr>
          <p:cNvPr name="TextBox 45" id="45">
            <a:hlinkClick r:id="rId51" action="ppaction://hlinksldjump"/>
          </p:cNvPr>
          <p:cNvSpPr txBox="true"/>
          <p:nvPr/>
        </p:nvSpPr>
        <p:spPr>
          <a:xfrm rot="0">
            <a:off x="3885830" y="6000750"/>
            <a:ext cx="20002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Meet CPU</a:t>
            </a:r>
          </a:p>
        </p:txBody>
      </p:sp>
      <p:sp>
        <p:nvSpPr>
          <p:cNvPr name="TextBox 46" id="46">
            <a:hlinkClick r:id="rId52" action="ppaction://hlinksldjump"/>
          </p:cNvPr>
          <p:cNvSpPr txBox="true"/>
          <p:nvPr/>
        </p:nvSpPr>
        <p:spPr>
          <a:xfrm rot="0">
            <a:off x="6753923" y="6000750"/>
            <a:ext cx="20002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Meet GPU</a:t>
            </a:r>
          </a:p>
        </p:txBody>
      </p:sp>
      <p:sp>
        <p:nvSpPr>
          <p:cNvPr name="TextBox 47" id="47">
            <a:hlinkClick r:id="rId53" action="ppaction://hlinksldjump"/>
          </p:cNvPr>
          <p:cNvSpPr txBox="true"/>
          <p:nvPr/>
        </p:nvSpPr>
        <p:spPr>
          <a:xfrm rot="0">
            <a:off x="9592836" y="6019800"/>
            <a:ext cx="20002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Compare</a:t>
            </a:r>
          </a:p>
        </p:txBody>
      </p:sp>
      <p:sp>
        <p:nvSpPr>
          <p:cNvPr name="TextBox 48" id="48">
            <a:hlinkClick r:id="rId54" action="ppaction://hlinksldjump"/>
          </p:cNvPr>
          <p:cNvSpPr txBox="true"/>
          <p:nvPr/>
        </p:nvSpPr>
        <p:spPr>
          <a:xfrm rot="0">
            <a:off x="12431750" y="6019800"/>
            <a:ext cx="20002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Teamwork</a:t>
            </a:r>
          </a:p>
        </p:txBody>
      </p:sp>
      <p:sp>
        <p:nvSpPr>
          <p:cNvPr name="TextBox 49" id="49">
            <a:hlinkClick r:id="rId55" action="ppaction://hlinksldjump"/>
          </p:cNvPr>
          <p:cNvSpPr txBox="true"/>
          <p:nvPr/>
        </p:nvSpPr>
        <p:spPr>
          <a:xfrm rot="0">
            <a:off x="15068348" y="6019800"/>
            <a:ext cx="20002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</a:pPr>
            <a:r>
              <a:rPr lang="en-US" sz="28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Quiz</a:t>
            </a:r>
          </a:p>
        </p:txBody>
      </p:sp>
      <p:sp>
        <p:nvSpPr>
          <p:cNvPr id="90" name="Click hint"/>
          <p:cNvSpPr txBox="1"/>
          <p:nvPr/>
        </p:nvSpPr>
        <p:spPr>
          <a:xfrm>
            <a:off x="2743200" y="7315200"/>
            <a:ext cx="1280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24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any stop to jump straight there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3741" y="171450"/>
            <a:ext cx="15237619" cy="10051256"/>
          </a:xfrm>
          <a:custGeom>
            <a:avLst/>
            <a:gdLst/>
            <a:ahLst/>
            <a:cxnLst/>
            <a:rect r="r" b="b" t="t" l="l"/>
            <a:pathLst>
              <a:path h="10051256" w="15237619">
                <a:moveTo>
                  <a:pt x="0" y="0"/>
                </a:moveTo>
                <a:lnTo>
                  <a:pt x="15237618" y="0"/>
                </a:lnTo>
                <a:lnTo>
                  <a:pt x="15237618" y="10051256"/>
                </a:lnTo>
                <a:lnTo>
                  <a:pt x="0" y="10051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-1066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2255" y="3182684"/>
            <a:ext cx="5905500" cy="2952750"/>
            <a:chOff x="0" y="0"/>
            <a:chExt cx="7874000" cy="393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74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3900129"/>
                  </a:lnTo>
                  <a:cubicBezTo>
                    <a:pt x="7874000" y="3920492"/>
                    <a:pt x="7857492" y="3937000"/>
                    <a:pt x="7837129" y="3937000"/>
                  </a:cubicBezTo>
                  <a:lnTo>
                    <a:pt x="36871" y="3937000"/>
                  </a:lnTo>
                  <a:cubicBezTo>
                    <a:pt x="16508" y="3937000"/>
                    <a:pt x="0" y="3920492"/>
                    <a:pt x="0" y="39001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7874000" cy="390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11050" y="3182684"/>
            <a:ext cx="5905500" cy="2952750"/>
            <a:chOff x="0" y="0"/>
            <a:chExt cx="7874000" cy="393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74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874000">
                  <a:moveTo>
                    <a:pt x="36871" y="0"/>
                  </a:moveTo>
                  <a:lnTo>
                    <a:pt x="7837129" y="0"/>
                  </a:lnTo>
                  <a:cubicBezTo>
                    <a:pt x="7857492" y="0"/>
                    <a:pt x="7874000" y="16508"/>
                    <a:pt x="7874000" y="36871"/>
                  </a:cubicBezTo>
                  <a:lnTo>
                    <a:pt x="7874000" y="3900129"/>
                  </a:lnTo>
                  <a:cubicBezTo>
                    <a:pt x="7874000" y="3920492"/>
                    <a:pt x="7857492" y="3937000"/>
                    <a:pt x="7837129" y="3937000"/>
                  </a:cubicBezTo>
                  <a:lnTo>
                    <a:pt x="36871" y="3937000"/>
                  </a:lnTo>
                  <a:cubicBezTo>
                    <a:pt x="16508" y="3937000"/>
                    <a:pt x="0" y="3920492"/>
                    <a:pt x="0" y="3900129"/>
                  </a:cubicBezTo>
                  <a:lnTo>
                    <a:pt x="0" y="36871"/>
                  </a:lnTo>
                  <a:cubicBezTo>
                    <a:pt x="0" y="16508"/>
                    <a:pt x="16508" y="0"/>
                    <a:pt x="36871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7874000" cy="390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0125" y="1420368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Warm-up: Who Would You Hire?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03  •  COMPUTER SYSTEMS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2975" y="1420368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Warm-up: Who Would You Hire?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1755" y="3460337"/>
            <a:ext cx="59055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315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ONE GENIUS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6300" y="4421378"/>
            <a:ext cx="5524500" cy="4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28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Solve one very hard puzzle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77725" y="3444145"/>
            <a:ext cx="5905500" cy="48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1,000 HELPERS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68225" y="4434649"/>
            <a:ext cx="5524500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26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Colour 1,000 identical drawings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95750" y="8543925"/>
            <a:ext cx="10096500" cy="52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32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That choice is the whole story of CPU vs GPU.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104109" y="4037929"/>
            <a:ext cx="2079781" cy="2097504"/>
          </a:xfrm>
          <a:custGeom>
            <a:avLst/>
            <a:gdLst/>
            <a:ahLst/>
            <a:cxnLst/>
            <a:rect r="r" b="b" t="t" l="l"/>
            <a:pathLst>
              <a:path h="2097504" w="2079781">
                <a:moveTo>
                  <a:pt x="0" y="0"/>
                </a:moveTo>
                <a:lnTo>
                  <a:pt x="2079782" y="0"/>
                </a:lnTo>
                <a:lnTo>
                  <a:pt x="2079782" y="2097505"/>
                </a:lnTo>
                <a:lnTo>
                  <a:pt x="0" y="2097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571"/>
            </a:stretch>
          </a:blipFill>
        </p:spPr>
      </p:sp>
    </p:spTree>
  </p:cSld>
  <p:clrMapOvr>
    <a:masterClrMapping/>
  </p:clrMapOvr>
  <p:transition spd="med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What Is a Processor Really?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04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What Is a Processor Really?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3714750"/>
            <a:ext cx="3810000" cy="1619250"/>
            <a:chOff x="0" y="0"/>
            <a:chExt cx="5080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101850"/>
                  </a:lnTo>
                  <a:cubicBezTo>
                    <a:pt x="5080000" y="2133413"/>
                    <a:pt x="5054413" y="2159000"/>
                    <a:pt x="5022850" y="2159000"/>
                  </a:cubicBezTo>
                  <a:lnTo>
                    <a:pt x="57150" y="2159000"/>
                  </a:lnTo>
                  <a:cubicBezTo>
                    <a:pt x="25587" y="2159000"/>
                    <a:pt x="0" y="2133413"/>
                    <a:pt x="0" y="2101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5080000" cy="211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7"/>
                </a:lnSpc>
              </a:pPr>
              <a:r>
                <a:rPr lang="en-US" sz="33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INPUT</a:t>
              </a:r>
            </a:p>
            <a:p>
              <a:pPr algn="ctr">
                <a:lnSpc>
                  <a:spcPts val="3517"/>
                </a:lnSpc>
              </a:pPr>
              <a:r>
                <a:rPr lang="en-US" sz="33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receive data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0" y="3714750"/>
            <a:ext cx="3810000" cy="1619250"/>
            <a:chOff x="0" y="0"/>
            <a:chExt cx="5080000" cy="215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101850"/>
                  </a:lnTo>
                  <a:cubicBezTo>
                    <a:pt x="5080000" y="2133413"/>
                    <a:pt x="5054413" y="2159000"/>
                    <a:pt x="5022850" y="2159000"/>
                  </a:cubicBezTo>
                  <a:lnTo>
                    <a:pt x="57150" y="2159000"/>
                  </a:lnTo>
                  <a:cubicBezTo>
                    <a:pt x="25587" y="2159000"/>
                    <a:pt x="0" y="2133413"/>
                    <a:pt x="0" y="2101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7324D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57150"/>
              <a:ext cx="5080000" cy="210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7"/>
                </a:lnSpc>
              </a:pPr>
              <a:r>
                <a:rPr lang="en-US" sz="29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PROCESS</a:t>
              </a:r>
            </a:p>
            <a:p>
              <a:pPr algn="ctr">
                <a:lnSpc>
                  <a:spcPts val="3097"/>
                </a:lnSpc>
              </a:pPr>
              <a:r>
                <a:rPr lang="en-US" sz="29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follow instructions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49250" y="3714750"/>
            <a:ext cx="3810000" cy="1619250"/>
            <a:chOff x="0" y="0"/>
            <a:chExt cx="5080000" cy="215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2101850"/>
                  </a:lnTo>
                  <a:cubicBezTo>
                    <a:pt x="5080000" y="2133413"/>
                    <a:pt x="5054413" y="2159000"/>
                    <a:pt x="5022850" y="2159000"/>
                  </a:cubicBezTo>
                  <a:lnTo>
                    <a:pt x="57150" y="2159000"/>
                  </a:lnTo>
                  <a:cubicBezTo>
                    <a:pt x="25587" y="2159000"/>
                    <a:pt x="0" y="2133413"/>
                    <a:pt x="0" y="2101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5080000" cy="211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2"/>
                </a:lnSpc>
              </a:pPr>
              <a:r>
                <a:rPr lang="en-US" sz="32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OUTPUT</a:t>
              </a:r>
            </a:p>
            <a:p>
              <a:pPr algn="ctr">
                <a:lnSpc>
                  <a:spcPts val="3412"/>
                </a:lnSpc>
              </a:pPr>
              <a:r>
                <a:rPr lang="en-US" sz="32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produce result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5238750" y="4524375"/>
            <a:ext cx="2000250" cy="0"/>
          </a:xfrm>
          <a:prstGeom prst="line">
            <a:avLst/>
          </a:prstGeom>
          <a:ln cap="flat" w="95250">
            <a:solidFill>
              <a:srgbClr val="FFF0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049000" y="4524375"/>
            <a:ext cx="2000250" cy="0"/>
          </a:xfrm>
          <a:prstGeom prst="line">
            <a:avLst/>
          </a:prstGeom>
          <a:ln cap="flat" w="95250">
            <a:solidFill>
              <a:srgbClr val="FFF0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381250" y="6448425"/>
            <a:ext cx="13525500" cy="5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4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Every app = millions of tiny instructions: add • compare • move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29157" y="7393940"/>
            <a:ext cx="13277593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59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GHz is the drummer’s beat — billions of ticks each second.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Meet the CPU: The Head Chef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05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Meet the CPU: The Head Chef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488206" y="2265354"/>
            <a:ext cx="7278489" cy="7299342"/>
          </a:xfrm>
          <a:custGeom>
            <a:avLst/>
            <a:gdLst/>
            <a:ahLst/>
            <a:cxnLst/>
            <a:rect r="r" b="b" t="t" l="l"/>
            <a:pathLst>
              <a:path h="7299342" w="7278489">
                <a:moveTo>
                  <a:pt x="0" y="0"/>
                </a:moveTo>
                <a:lnTo>
                  <a:pt x="7278490" y="0"/>
                </a:lnTo>
                <a:lnTo>
                  <a:pt x="7278490" y="7299342"/>
                </a:lnTo>
                <a:lnTo>
                  <a:pt x="0" y="7299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</a:blip>
            <a:stretch>
              <a:fillRect l="0" t="0" r="-28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569238" y="2908173"/>
            <a:ext cx="7972425" cy="223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CENTRAL</a:t>
            </a:r>
          </a:p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PROCESSING</a:t>
            </a:r>
          </a:p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UNIT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9238" y="5895975"/>
            <a:ext cx="8403312" cy="200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3106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The general-purpose brain: a few powerful cores that make decisions, handle surprises, run apps, operate the OS, and manage the whole machine.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Inside the CPU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06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Inside the CPU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14500" y="2952750"/>
            <a:ext cx="4000500" cy="1714500"/>
            <a:chOff x="0" y="0"/>
            <a:chExt cx="533400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17324D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5334000" cy="224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CONTROL UNIT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Reads + directs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91250" y="2952750"/>
            <a:ext cx="4000500" cy="1714500"/>
            <a:chOff x="0" y="0"/>
            <a:chExt cx="533400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5334000" cy="224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ALU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Maths + logic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68000" y="2952750"/>
            <a:ext cx="4000500" cy="1714500"/>
            <a:chOff x="0" y="0"/>
            <a:chExt cx="5334000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38100"/>
              <a:ext cx="5334000" cy="224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REGISTERS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Tiny fast notebooks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191250" y="5619750"/>
            <a:ext cx="4000500" cy="1714500"/>
            <a:chOff x="0" y="0"/>
            <a:chExt cx="53340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ED713C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5334000" cy="224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CACHE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Close, fast memory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71750" y="8343900"/>
            <a:ext cx="131445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</a:pPr>
            <a:r>
              <a:rPr lang="en-US" sz="349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FETCH  →  DECODE  →  EXECUTE  →  REPEAT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500" y="9405937"/>
            <a:ext cx="4953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9"/>
              </a:lnSpc>
            </a:pPr>
            <a:r>
              <a:rPr lang="en-US" sz="2324">
                <a:solidFill>
                  <a:srgbClr val="17324D"/>
                </a:solidFill>
                <a:latin typeface="DM Sans"/>
                <a:ea typeface="DM Sans"/>
                <a:cs typeface="DM Sans"/>
                <a:sym typeface="DM Sans"/>
              </a:rPr>
              <a:t>Example instruction: 2 + 3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Cores, Threads &amp; Pipelines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07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Cores, Threads &amp; Pipelines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3000375"/>
            <a:ext cx="4762500" cy="2000250"/>
            <a:chOff x="0" y="0"/>
            <a:chExt cx="6350000" cy="266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6350000" cy="2619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  <a:r>
                <a:rPr lang="en-US" sz="26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 CORE</a:t>
              </a:r>
            </a:p>
            <a:p>
              <a:pPr algn="ctr">
                <a:lnSpc>
                  <a:spcPts val="3937"/>
                </a:lnSpc>
              </a:pPr>
              <a:r>
                <a:rPr lang="en-US" sz="37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one chef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48500" y="3000375"/>
            <a:ext cx="4762500" cy="2000250"/>
            <a:chOff x="0" y="0"/>
            <a:chExt cx="6350000" cy="266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7324D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6350000" cy="262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CORES</a:t>
              </a:r>
            </a:p>
            <a:p>
              <a:pPr algn="ctr">
                <a:lnSpc>
                  <a:spcPts val="4042"/>
                </a:lnSpc>
              </a:pPr>
              <a:r>
                <a:rPr lang="en-US" sz="38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chefs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68250" y="3000375"/>
            <a:ext cx="4762500" cy="2000250"/>
            <a:chOff x="0" y="0"/>
            <a:chExt cx="6350000" cy="266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621280"/>
                  </a:lnTo>
                  <a:cubicBezTo>
                    <a:pt x="6350000" y="2646531"/>
                    <a:pt x="6329530" y="2667000"/>
                    <a:pt x="6304280" y="2667000"/>
                  </a:cubicBezTo>
                  <a:lnTo>
                    <a:pt x="45720" y="2667000"/>
                  </a:lnTo>
                  <a:cubicBezTo>
                    <a:pt x="20470" y="2667000"/>
                    <a:pt x="0" y="2646531"/>
                    <a:pt x="0" y="2621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6350000" cy="2619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7"/>
                </a:lnSpc>
              </a:pPr>
              <a:r>
                <a:rPr lang="en-US" sz="27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 CORES</a:t>
              </a:r>
            </a:p>
            <a:p>
              <a:pPr algn="ctr">
                <a:lnSpc>
                  <a:spcPts val="4147"/>
                </a:lnSpc>
              </a:pPr>
              <a:r>
                <a:rPr lang="en-US" sz="39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 chefs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19250" y="6134100"/>
            <a:ext cx="409575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THREADS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9250" y="6934200"/>
            <a:ext cx="40957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624">
                <a:solidFill>
                  <a:srgbClr val="17324D"/>
                </a:solidFill>
                <a:latin typeface="DM Sans"/>
                <a:ea typeface="DM Sans"/>
                <a:cs typeface="DM Sans"/>
                <a:sym typeface="DM Sans"/>
              </a:rPr>
              <a:t>One chef switches quickly between two jobs.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96125" y="6166485"/>
            <a:ext cx="4095750" cy="40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29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PIPELINING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96125" y="6905625"/>
            <a:ext cx="409575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524">
                <a:solidFill>
                  <a:srgbClr val="17324D"/>
                </a:solidFill>
                <a:latin typeface="DM Sans"/>
                <a:ea typeface="DM Sans"/>
                <a:cs typeface="DM Sans"/>
                <a:sym typeface="DM Sans"/>
              </a:rPr>
              <a:t>An assembly line: the next instruction starts early.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73000" y="6134100"/>
            <a:ext cx="4095750" cy="37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7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BRANCH PREDICTION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68250" y="6934200"/>
            <a:ext cx="40957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624">
                <a:solidFill>
                  <a:srgbClr val="17324D"/>
                </a:solidFill>
                <a:latin typeface="DM Sans"/>
                <a:ea typeface="DM Sans"/>
                <a:cs typeface="DM Sans"/>
                <a:sym typeface="DM Sans"/>
              </a:rPr>
              <a:t>The chef guesses the next step to avoid waiting.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Meet the GPU: An Army of Line Cooks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08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Meet the GPU: An Army of Line Cooks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76300" y="2431161"/>
            <a:ext cx="7810500" cy="6667500"/>
          </a:xfrm>
          <a:custGeom>
            <a:avLst/>
            <a:gdLst/>
            <a:ahLst/>
            <a:cxnLst/>
            <a:rect r="r" b="b" t="t" l="l"/>
            <a:pathLst>
              <a:path h="6667500" w="7810500">
                <a:moveTo>
                  <a:pt x="0" y="0"/>
                </a:moveTo>
                <a:lnTo>
                  <a:pt x="7810500" y="0"/>
                </a:lnTo>
                <a:lnTo>
                  <a:pt x="78105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" t="0" r="-67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9906000" y="3038475"/>
            <a:ext cx="6667500" cy="21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D94B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GRAPHICS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D94B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PROCESSING</a:t>
            </a:r>
          </a:p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D94B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UNIT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0" y="5781675"/>
            <a:ext cx="6572250" cy="205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1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Thousands of simple cores do the same kind of work together. Each core is modest; the combined throughput is enormous.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3625" y="8829675"/>
            <a:ext cx="66675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309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THOUSANDS → 10,000+ CORES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Why Was the GPU Invented?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10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Why Was the GPU Invented?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2857500"/>
            <a:ext cx="457200" cy="457200"/>
            <a:chOff x="0" y="0"/>
            <a:chExt cx="609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0200" y="2857500"/>
            <a:ext cx="457200" cy="457200"/>
            <a:chOff x="0" y="0"/>
            <a:chExt cx="6096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52650" y="2857500"/>
            <a:ext cx="457200" cy="457200"/>
            <a:chOff x="0" y="0"/>
            <a:chExt cx="609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05100" y="2857500"/>
            <a:ext cx="457200" cy="457200"/>
            <a:chOff x="0" y="0"/>
            <a:chExt cx="60960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57550" y="2857500"/>
            <a:ext cx="457200" cy="457200"/>
            <a:chOff x="0" y="0"/>
            <a:chExt cx="6096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10000" y="2857500"/>
            <a:ext cx="457200" cy="457200"/>
            <a:chOff x="0" y="0"/>
            <a:chExt cx="6096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362450" y="2857500"/>
            <a:ext cx="457200" cy="457200"/>
            <a:chOff x="0" y="0"/>
            <a:chExt cx="6096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914900" y="2857500"/>
            <a:ext cx="457200" cy="457200"/>
            <a:chOff x="0" y="0"/>
            <a:chExt cx="6096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67350" y="2857500"/>
            <a:ext cx="457200" cy="457200"/>
            <a:chOff x="0" y="0"/>
            <a:chExt cx="6096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019800" y="2857500"/>
            <a:ext cx="457200" cy="457200"/>
            <a:chOff x="0" y="0"/>
            <a:chExt cx="6096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72250" y="2857500"/>
            <a:ext cx="457200" cy="457200"/>
            <a:chOff x="0" y="0"/>
            <a:chExt cx="60960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24700" y="2857500"/>
            <a:ext cx="457200" cy="457200"/>
            <a:chOff x="0" y="0"/>
            <a:chExt cx="6096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47750" y="3409950"/>
            <a:ext cx="457200" cy="457200"/>
            <a:chOff x="0" y="0"/>
            <a:chExt cx="60960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00200" y="3409950"/>
            <a:ext cx="457200" cy="457200"/>
            <a:chOff x="0" y="0"/>
            <a:chExt cx="60960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152650" y="3409950"/>
            <a:ext cx="457200" cy="457200"/>
            <a:chOff x="0" y="0"/>
            <a:chExt cx="60960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705100" y="3409950"/>
            <a:ext cx="457200" cy="457200"/>
            <a:chOff x="0" y="0"/>
            <a:chExt cx="609600" cy="60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257550" y="3409950"/>
            <a:ext cx="457200" cy="457200"/>
            <a:chOff x="0" y="0"/>
            <a:chExt cx="609600" cy="609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810000" y="3409950"/>
            <a:ext cx="457200" cy="457200"/>
            <a:chOff x="0" y="0"/>
            <a:chExt cx="60960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362450" y="3409950"/>
            <a:ext cx="457200" cy="457200"/>
            <a:chOff x="0" y="0"/>
            <a:chExt cx="60960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914900" y="3409950"/>
            <a:ext cx="457200" cy="457200"/>
            <a:chOff x="0" y="0"/>
            <a:chExt cx="60960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467350" y="3409950"/>
            <a:ext cx="457200" cy="457200"/>
            <a:chOff x="0" y="0"/>
            <a:chExt cx="609600" cy="609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019800" y="3409950"/>
            <a:ext cx="457200" cy="457200"/>
            <a:chOff x="0" y="0"/>
            <a:chExt cx="609600" cy="609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572250" y="3409950"/>
            <a:ext cx="457200" cy="457200"/>
            <a:chOff x="0" y="0"/>
            <a:chExt cx="609600" cy="609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124700" y="3409950"/>
            <a:ext cx="457200" cy="457200"/>
            <a:chOff x="0" y="0"/>
            <a:chExt cx="609600" cy="609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47750" y="3962400"/>
            <a:ext cx="457200" cy="457200"/>
            <a:chOff x="0" y="0"/>
            <a:chExt cx="60960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600200" y="3962400"/>
            <a:ext cx="457200" cy="457200"/>
            <a:chOff x="0" y="0"/>
            <a:chExt cx="6096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152650" y="3962400"/>
            <a:ext cx="457200" cy="457200"/>
            <a:chOff x="0" y="0"/>
            <a:chExt cx="6096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2705100" y="3962400"/>
            <a:ext cx="457200" cy="457200"/>
            <a:chOff x="0" y="0"/>
            <a:chExt cx="609600" cy="609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257550" y="3962400"/>
            <a:ext cx="457200" cy="457200"/>
            <a:chOff x="0" y="0"/>
            <a:chExt cx="609600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810000" y="3962400"/>
            <a:ext cx="457200" cy="457200"/>
            <a:chOff x="0" y="0"/>
            <a:chExt cx="609600" cy="609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362450" y="3962400"/>
            <a:ext cx="457200" cy="457200"/>
            <a:chOff x="0" y="0"/>
            <a:chExt cx="609600" cy="609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914900" y="3962400"/>
            <a:ext cx="457200" cy="457200"/>
            <a:chOff x="0" y="0"/>
            <a:chExt cx="609600" cy="609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467350" y="3962400"/>
            <a:ext cx="457200" cy="457200"/>
            <a:chOff x="0" y="0"/>
            <a:chExt cx="609600" cy="609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6019800" y="3962400"/>
            <a:ext cx="457200" cy="457200"/>
            <a:chOff x="0" y="0"/>
            <a:chExt cx="609600" cy="609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6572250" y="3962400"/>
            <a:ext cx="457200" cy="457200"/>
            <a:chOff x="0" y="0"/>
            <a:chExt cx="609600" cy="6096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7124700" y="3962400"/>
            <a:ext cx="457200" cy="457200"/>
            <a:chOff x="0" y="0"/>
            <a:chExt cx="609600" cy="6096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47750" y="4514850"/>
            <a:ext cx="457200" cy="457200"/>
            <a:chOff x="0" y="0"/>
            <a:chExt cx="609600" cy="6096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600200" y="4514850"/>
            <a:ext cx="457200" cy="457200"/>
            <a:chOff x="0" y="0"/>
            <a:chExt cx="609600" cy="6096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2152650" y="4514850"/>
            <a:ext cx="457200" cy="457200"/>
            <a:chOff x="0" y="0"/>
            <a:chExt cx="609600" cy="6096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2705100" y="4514850"/>
            <a:ext cx="457200" cy="457200"/>
            <a:chOff x="0" y="0"/>
            <a:chExt cx="609600" cy="6096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3257550" y="4514850"/>
            <a:ext cx="457200" cy="457200"/>
            <a:chOff x="0" y="0"/>
            <a:chExt cx="609600" cy="6096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3810000" y="4514850"/>
            <a:ext cx="457200" cy="457200"/>
            <a:chOff x="0" y="0"/>
            <a:chExt cx="609600" cy="6096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4362450" y="4514850"/>
            <a:ext cx="457200" cy="457200"/>
            <a:chOff x="0" y="0"/>
            <a:chExt cx="609600" cy="6096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914900" y="4514850"/>
            <a:ext cx="457200" cy="457200"/>
            <a:chOff x="0" y="0"/>
            <a:chExt cx="609600" cy="6096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5467350" y="4514850"/>
            <a:ext cx="457200" cy="457200"/>
            <a:chOff x="0" y="0"/>
            <a:chExt cx="609600" cy="6096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6019800" y="4514850"/>
            <a:ext cx="457200" cy="457200"/>
            <a:chOff x="0" y="0"/>
            <a:chExt cx="609600" cy="6096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6572250" y="4514850"/>
            <a:ext cx="457200" cy="457200"/>
            <a:chOff x="0" y="0"/>
            <a:chExt cx="609600" cy="6096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7124700" y="4514850"/>
            <a:ext cx="457200" cy="457200"/>
            <a:chOff x="0" y="0"/>
            <a:chExt cx="609600" cy="6096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47750" y="5067300"/>
            <a:ext cx="457200" cy="457200"/>
            <a:chOff x="0" y="0"/>
            <a:chExt cx="609600" cy="6096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600200" y="5067300"/>
            <a:ext cx="457200" cy="457200"/>
            <a:chOff x="0" y="0"/>
            <a:chExt cx="609600" cy="6096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2152650" y="5067300"/>
            <a:ext cx="457200" cy="457200"/>
            <a:chOff x="0" y="0"/>
            <a:chExt cx="609600" cy="6096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2705100" y="5067300"/>
            <a:ext cx="457200" cy="457200"/>
            <a:chOff x="0" y="0"/>
            <a:chExt cx="609600" cy="6096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3257550" y="5067300"/>
            <a:ext cx="457200" cy="457200"/>
            <a:chOff x="0" y="0"/>
            <a:chExt cx="609600" cy="6096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3810000" y="5067300"/>
            <a:ext cx="457200" cy="457200"/>
            <a:chOff x="0" y="0"/>
            <a:chExt cx="609600" cy="6096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4362450" y="5067300"/>
            <a:ext cx="457200" cy="457200"/>
            <a:chOff x="0" y="0"/>
            <a:chExt cx="609600" cy="6096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4914900" y="5067300"/>
            <a:ext cx="457200" cy="457200"/>
            <a:chOff x="0" y="0"/>
            <a:chExt cx="609600" cy="6096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5467350" y="5067300"/>
            <a:ext cx="457200" cy="457200"/>
            <a:chOff x="0" y="0"/>
            <a:chExt cx="609600" cy="6096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6019800" y="5067300"/>
            <a:ext cx="457200" cy="457200"/>
            <a:chOff x="0" y="0"/>
            <a:chExt cx="609600" cy="60960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8" id="18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6572250" y="5067300"/>
            <a:ext cx="457200" cy="457200"/>
            <a:chOff x="0" y="0"/>
            <a:chExt cx="609600" cy="60960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91" id="19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2" id="192"/>
          <p:cNvGrpSpPr/>
          <p:nvPr/>
        </p:nvGrpSpPr>
        <p:grpSpPr>
          <a:xfrm rot="0">
            <a:off x="7124700" y="5067300"/>
            <a:ext cx="457200" cy="457200"/>
            <a:chOff x="0" y="0"/>
            <a:chExt cx="609600" cy="6096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047750" y="5619750"/>
            <a:ext cx="457200" cy="457200"/>
            <a:chOff x="0" y="0"/>
            <a:chExt cx="609600" cy="6096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7" id="19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600200" y="5619750"/>
            <a:ext cx="457200" cy="457200"/>
            <a:chOff x="0" y="0"/>
            <a:chExt cx="609600" cy="60960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00" id="20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2152650" y="5619750"/>
            <a:ext cx="457200" cy="457200"/>
            <a:chOff x="0" y="0"/>
            <a:chExt cx="609600" cy="60960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3" id="20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2705100" y="5619750"/>
            <a:ext cx="457200" cy="457200"/>
            <a:chOff x="0" y="0"/>
            <a:chExt cx="609600" cy="60960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06" id="20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3257550" y="5619750"/>
            <a:ext cx="457200" cy="457200"/>
            <a:chOff x="0" y="0"/>
            <a:chExt cx="609600" cy="609600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09" id="20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0" id="210"/>
          <p:cNvGrpSpPr/>
          <p:nvPr/>
        </p:nvGrpSpPr>
        <p:grpSpPr>
          <a:xfrm rot="0">
            <a:off x="3810000" y="5619750"/>
            <a:ext cx="457200" cy="457200"/>
            <a:chOff x="0" y="0"/>
            <a:chExt cx="609600" cy="609600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2" id="21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3" id="213"/>
          <p:cNvGrpSpPr/>
          <p:nvPr/>
        </p:nvGrpSpPr>
        <p:grpSpPr>
          <a:xfrm rot="0">
            <a:off x="4362450" y="5619750"/>
            <a:ext cx="457200" cy="457200"/>
            <a:chOff x="0" y="0"/>
            <a:chExt cx="609600" cy="60960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15" id="21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4914900" y="5619750"/>
            <a:ext cx="457200" cy="457200"/>
            <a:chOff x="0" y="0"/>
            <a:chExt cx="609600" cy="60960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8" id="21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5467350" y="5619750"/>
            <a:ext cx="457200" cy="457200"/>
            <a:chOff x="0" y="0"/>
            <a:chExt cx="609600" cy="60960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1" id="2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6019800" y="5619750"/>
            <a:ext cx="457200" cy="457200"/>
            <a:chOff x="0" y="0"/>
            <a:chExt cx="609600" cy="609600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24" id="22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5" id="225"/>
          <p:cNvGrpSpPr/>
          <p:nvPr/>
        </p:nvGrpSpPr>
        <p:grpSpPr>
          <a:xfrm rot="0">
            <a:off x="6572250" y="5619750"/>
            <a:ext cx="457200" cy="457200"/>
            <a:chOff x="0" y="0"/>
            <a:chExt cx="609600" cy="609600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7" id="22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8" id="228"/>
          <p:cNvGrpSpPr/>
          <p:nvPr/>
        </p:nvGrpSpPr>
        <p:grpSpPr>
          <a:xfrm rot="0">
            <a:off x="7124700" y="5619750"/>
            <a:ext cx="457200" cy="457200"/>
            <a:chOff x="0" y="0"/>
            <a:chExt cx="609600" cy="609600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30" id="23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1" id="231"/>
          <p:cNvGrpSpPr/>
          <p:nvPr/>
        </p:nvGrpSpPr>
        <p:grpSpPr>
          <a:xfrm rot="0">
            <a:off x="1047750" y="6172200"/>
            <a:ext cx="457200" cy="457200"/>
            <a:chOff x="0" y="0"/>
            <a:chExt cx="609600" cy="609600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33" id="23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1600200" y="6172200"/>
            <a:ext cx="457200" cy="457200"/>
            <a:chOff x="0" y="0"/>
            <a:chExt cx="609600" cy="609600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6" id="23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2152650" y="6172200"/>
            <a:ext cx="457200" cy="457200"/>
            <a:chOff x="0" y="0"/>
            <a:chExt cx="609600" cy="609600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39" id="23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0" id="240"/>
          <p:cNvGrpSpPr/>
          <p:nvPr/>
        </p:nvGrpSpPr>
        <p:grpSpPr>
          <a:xfrm rot="0">
            <a:off x="2705100" y="6172200"/>
            <a:ext cx="457200" cy="457200"/>
            <a:chOff x="0" y="0"/>
            <a:chExt cx="609600" cy="609600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42" id="24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3" id="243"/>
          <p:cNvGrpSpPr/>
          <p:nvPr/>
        </p:nvGrpSpPr>
        <p:grpSpPr>
          <a:xfrm rot="0">
            <a:off x="3257550" y="6172200"/>
            <a:ext cx="457200" cy="457200"/>
            <a:chOff x="0" y="0"/>
            <a:chExt cx="609600" cy="609600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5" id="24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6" id="246"/>
          <p:cNvGrpSpPr/>
          <p:nvPr/>
        </p:nvGrpSpPr>
        <p:grpSpPr>
          <a:xfrm rot="0">
            <a:off x="3810000" y="6172200"/>
            <a:ext cx="457200" cy="457200"/>
            <a:chOff x="0" y="0"/>
            <a:chExt cx="609600" cy="609600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48" id="24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4362450" y="6172200"/>
            <a:ext cx="457200" cy="457200"/>
            <a:chOff x="0" y="0"/>
            <a:chExt cx="609600" cy="609600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1" id="25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4914900" y="6172200"/>
            <a:ext cx="457200" cy="457200"/>
            <a:chOff x="0" y="0"/>
            <a:chExt cx="609600" cy="609600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54" id="25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5467350" y="6172200"/>
            <a:ext cx="457200" cy="457200"/>
            <a:chOff x="0" y="0"/>
            <a:chExt cx="609600" cy="609600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57" id="25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6019800" y="6172200"/>
            <a:ext cx="457200" cy="457200"/>
            <a:chOff x="0" y="0"/>
            <a:chExt cx="609600" cy="609600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60" id="26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1" id="261"/>
          <p:cNvGrpSpPr/>
          <p:nvPr/>
        </p:nvGrpSpPr>
        <p:grpSpPr>
          <a:xfrm rot="0">
            <a:off x="6572250" y="6172200"/>
            <a:ext cx="457200" cy="457200"/>
            <a:chOff x="0" y="0"/>
            <a:chExt cx="609600" cy="609600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63" id="26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4" id="264"/>
          <p:cNvGrpSpPr/>
          <p:nvPr/>
        </p:nvGrpSpPr>
        <p:grpSpPr>
          <a:xfrm rot="0">
            <a:off x="7124700" y="6172200"/>
            <a:ext cx="457200" cy="457200"/>
            <a:chOff x="0" y="0"/>
            <a:chExt cx="609600" cy="609600"/>
          </a:xfrm>
        </p:grpSpPr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6" id="26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7" id="267"/>
          <p:cNvGrpSpPr/>
          <p:nvPr/>
        </p:nvGrpSpPr>
        <p:grpSpPr>
          <a:xfrm rot="0">
            <a:off x="1047750" y="6724650"/>
            <a:ext cx="457200" cy="457200"/>
            <a:chOff x="0" y="0"/>
            <a:chExt cx="609600" cy="609600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9" id="26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0" id="270"/>
          <p:cNvGrpSpPr/>
          <p:nvPr/>
        </p:nvGrpSpPr>
        <p:grpSpPr>
          <a:xfrm rot="0">
            <a:off x="1600200" y="6724650"/>
            <a:ext cx="457200" cy="457200"/>
            <a:chOff x="0" y="0"/>
            <a:chExt cx="609600" cy="609600"/>
          </a:xfrm>
        </p:grpSpPr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2" id="27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3" id="273"/>
          <p:cNvGrpSpPr/>
          <p:nvPr/>
        </p:nvGrpSpPr>
        <p:grpSpPr>
          <a:xfrm rot="0">
            <a:off x="2152650" y="6724650"/>
            <a:ext cx="457200" cy="457200"/>
            <a:chOff x="0" y="0"/>
            <a:chExt cx="609600" cy="609600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75" id="27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6" id="276"/>
          <p:cNvGrpSpPr/>
          <p:nvPr/>
        </p:nvGrpSpPr>
        <p:grpSpPr>
          <a:xfrm rot="0">
            <a:off x="2705100" y="6724650"/>
            <a:ext cx="457200" cy="457200"/>
            <a:chOff x="0" y="0"/>
            <a:chExt cx="609600" cy="609600"/>
          </a:xfrm>
        </p:grpSpPr>
        <p:sp>
          <p:nvSpPr>
            <p:cNvPr name="Freeform 277" id="27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8" id="278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9" id="279"/>
          <p:cNvGrpSpPr/>
          <p:nvPr/>
        </p:nvGrpSpPr>
        <p:grpSpPr>
          <a:xfrm rot="0">
            <a:off x="3257550" y="6724650"/>
            <a:ext cx="457200" cy="457200"/>
            <a:chOff x="0" y="0"/>
            <a:chExt cx="609600" cy="609600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81" id="28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2" id="282"/>
          <p:cNvGrpSpPr/>
          <p:nvPr/>
        </p:nvGrpSpPr>
        <p:grpSpPr>
          <a:xfrm rot="0">
            <a:off x="3810000" y="6724650"/>
            <a:ext cx="457200" cy="457200"/>
            <a:chOff x="0" y="0"/>
            <a:chExt cx="609600" cy="609600"/>
          </a:xfrm>
        </p:grpSpPr>
        <p:sp>
          <p:nvSpPr>
            <p:cNvPr name="Freeform 283" id="28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4" id="28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5" id="285"/>
          <p:cNvGrpSpPr/>
          <p:nvPr/>
        </p:nvGrpSpPr>
        <p:grpSpPr>
          <a:xfrm rot="0">
            <a:off x="4362450" y="6724650"/>
            <a:ext cx="457200" cy="457200"/>
            <a:chOff x="0" y="0"/>
            <a:chExt cx="609600" cy="609600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287" id="28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4914900" y="6724650"/>
            <a:ext cx="457200" cy="457200"/>
            <a:chOff x="0" y="0"/>
            <a:chExt cx="609600" cy="609600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90" id="290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5467350" y="6724650"/>
            <a:ext cx="457200" cy="457200"/>
            <a:chOff x="0" y="0"/>
            <a:chExt cx="609600" cy="609600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93" id="29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6019800" y="6724650"/>
            <a:ext cx="457200" cy="457200"/>
            <a:chOff x="0" y="0"/>
            <a:chExt cx="609600" cy="609600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D71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96" id="29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6572250" y="6724650"/>
            <a:ext cx="457200" cy="457200"/>
            <a:chOff x="0" y="0"/>
            <a:chExt cx="609600" cy="609600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9" id="29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0" id="300"/>
          <p:cNvGrpSpPr/>
          <p:nvPr/>
        </p:nvGrpSpPr>
        <p:grpSpPr>
          <a:xfrm rot="0">
            <a:off x="7124700" y="6724650"/>
            <a:ext cx="457200" cy="457200"/>
            <a:chOff x="0" y="0"/>
            <a:chExt cx="609600" cy="609600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247F7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2" id="302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3" id="303"/>
          <p:cNvSpPr txBox="true"/>
          <p:nvPr/>
        </p:nvSpPr>
        <p:spPr>
          <a:xfrm rot="0">
            <a:off x="8858250" y="3038475"/>
            <a:ext cx="7239000" cy="7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1920 × 1080</a:t>
            </a:r>
          </a:p>
        </p:txBody>
      </p:sp>
      <p:sp>
        <p:nvSpPr>
          <p:cNvPr name="TextBox 304" id="304"/>
          <p:cNvSpPr txBox="true"/>
          <p:nvPr/>
        </p:nvSpPr>
        <p:spPr>
          <a:xfrm rot="0">
            <a:off x="8953500" y="4181475"/>
            <a:ext cx="6667500" cy="42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305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&gt; 2 million pixels</a:t>
            </a:r>
          </a:p>
        </p:txBody>
      </p:sp>
      <p:sp>
        <p:nvSpPr>
          <p:cNvPr name="TextBox 305" id="305"/>
          <p:cNvSpPr txBox="true"/>
          <p:nvPr/>
        </p:nvSpPr>
        <p:spPr>
          <a:xfrm rot="0">
            <a:off x="8972550" y="5182552"/>
            <a:ext cx="6667500" cy="42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30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× 60 refreshes each second</a:t>
            </a:r>
          </a:p>
        </p:txBody>
      </p:sp>
      <p:sp>
        <p:nvSpPr>
          <p:cNvPr name="TextBox 306" id="306"/>
          <p:cNvSpPr txBox="true"/>
          <p:nvPr/>
        </p:nvSpPr>
        <p:spPr>
          <a:xfrm rot="0">
            <a:off x="8953500" y="6029325"/>
            <a:ext cx="884358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&gt; 120 million tiny colour calculations every second</a:t>
            </a:r>
          </a:p>
        </p:txBody>
      </p:sp>
      <p:sp>
        <p:nvSpPr>
          <p:cNvPr name="TextBox 307" id="307"/>
          <p:cNvSpPr txBox="true"/>
          <p:nvPr/>
        </p:nvSpPr>
        <p:spPr>
          <a:xfrm rot="0">
            <a:off x="8972550" y="7649718"/>
            <a:ext cx="6667500" cy="5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1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Repeated maths also powers AI.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Big Idea: Serial vs Parallel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11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Big Idea: Serial vs Parallel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095500" y="428625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317500" y="0"/>
                  </a:moveTo>
                  <a:lnTo>
                    <a:pt x="596900" y="0"/>
                  </a:lnTo>
                  <a:cubicBezTo>
                    <a:pt x="772250" y="0"/>
                    <a:pt x="914400" y="142150"/>
                    <a:pt x="914400" y="317500"/>
                  </a:cubicBezTo>
                  <a:lnTo>
                    <a:pt x="914400" y="596900"/>
                  </a:lnTo>
                  <a:cubicBezTo>
                    <a:pt x="914400" y="772250"/>
                    <a:pt x="772250" y="914400"/>
                    <a:pt x="596900" y="914400"/>
                  </a:cubicBezTo>
                  <a:lnTo>
                    <a:pt x="317500" y="914400"/>
                  </a:lnTo>
                  <a:cubicBezTo>
                    <a:pt x="142150" y="914400"/>
                    <a:pt x="0" y="772250"/>
                    <a:pt x="0" y="596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14400" cy="885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000375" y="4286250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317500" y="0"/>
                  </a:moveTo>
                  <a:lnTo>
                    <a:pt x="596900" y="0"/>
                  </a:lnTo>
                  <a:cubicBezTo>
                    <a:pt x="772250" y="0"/>
                    <a:pt x="914400" y="142150"/>
                    <a:pt x="914400" y="317500"/>
                  </a:cubicBezTo>
                  <a:lnTo>
                    <a:pt x="914400" y="596900"/>
                  </a:lnTo>
                  <a:cubicBezTo>
                    <a:pt x="914400" y="772250"/>
                    <a:pt x="772250" y="914400"/>
                    <a:pt x="596900" y="914400"/>
                  </a:cubicBezTo>
                  <a:lnTo>
                    <a:pt x="317500" y="914400"/>
                  </a:lnTo>
                  <a:cubicBezTo>
                    <a:pt x="142150" y="914400"/>
                    <a:pt x="0" y="772250"/>
                    <a:pt x="0" y="596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14400" cy="885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05250" y="428625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317500" y="0"/>
                  </a:moveTo>
                  <a:lnTo>
                    <a:pt x="596900" y="0"/>
                  </a:lnTo>
                  <a:cubicBezTo>
                    <a:pt x="772250" y="0"/>
                    <a:pt x="914400" y="142150"/>
                    <a:pt x="914400" y="317500"/>
                  </a:cubicBezTo>
                  <a:lnTo>
                    <a:pt x="914400" y="596900"/>
                  </a:lnTo>
                  <a:cubicBezTo>
                    <a:pt x="914400" y="772250"/>
                    <a:pt x="772250" y="914400"/>
                    <a:pt x="596900" y="914400"/>
                  </a:cubicBezTo>
                  <a:lnTo>
                    <a:pt x="317500" y="914400"/>
                  </a:lnTo>
                  <a:cubicBezTo>
                    <a:pt x="142150" y="914400"/>
                    <a:pt x="0" y="772250"/>
                    <a:pt x="0" y="596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914400" cy="885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10125" y="4286250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317500" y="0"/>
                  </a:moveTo>
                  <a:lnTo>
                    <a:pt x="596900" y="0"/>
                  </a:lnTo>
                  <a:cubicBezTo>
                    <a:pt x="772250" y="0"/>
                    <a:pt x="914400" y="142150"/>
                    <a:pt x="914400" y="317500"/>
                  </a:cubicBezTo>
                  <a:lnTo>
                    <a:pt x="914400" y="596900"/>
                  </a:lnTo>
                  <a:cubicBezTo>
                    <a:pt x="914400" y="772250"/>
                    <a:pt x="772250" y="914400"/>
                    <a:pt x="596900" y="914400"/>
                  </a:cubicBezTo>
                  <a:lnTo>
                    <a:pt x="317500" y="914400"/>
                  </a:lnTo>
                  <a:cubicBezTo>
                    <a:pt x="142150" y="914400"/>
                    <a:pt x="0" y="772250"/>
                    <a:pt x="0" y="596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914400" cy="885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715000" y="428625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317500" y="0"/>
                  </a:moveTo>
                  <a:lnTo>
                    <a:pt x="596900" y="0"/>
                  </a:lnTo>
                  <a:cubicBezTo>
                    <a:pt x="772250" y="0"/>
                    <a:pt x="914400" y="142150"/>
                    <a:pt x="914400" y="317500"/>
                  </a:cubicBezTo>
                  <a:lnTo>
                    <a:pt x="914400" y="596900"/>
                  </a:lnTo>
                  <a:cubicBezTo>
                    <a:pt x="914400" y="772250"/>
                    <a:pt x="772250" y="914400"/>
                    <a:pt x="596900" y="914400"/>
                  </a:cubicBezTo>
                  <a:lnTo>
                    <a:pt x="317500" y="914400"/>
                  </a:lnTo>
                  <a:cubicBezTo>
                    <a:pt x="142150" y="914400"/>
                    <a:pt x="0" y="772250"/>
                    <a:pt x="0" y="596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914400" cy="885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619875" y="428625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317500" y="0"/>
                  </a:moveTo>
                  <a:lnTo>
                    <a:pt x="596900" y="0"/>
                  </a:lnTo>
                  <a:cubicBezTo>
                    <a:pt x="772250" y="0"/>
                    <a:pt x="914400" y="142150"/>
                    <a:pt x="914400" y="317500"/>
                  </a:cubicBezTo>
                  <a:lnTo>
                    <a:pt x="914400" y="596900"/>
                  </a:lnTo>
                  <a:cubicBezTo>
                    <a:pt x="914400" y="772250"/>
                    <a:pt x="772250" y="914400"/>
                    <a:pt x="596900" y="914400"/>
                  </a:cubicBezTo>
                  <a:lnTo>
                    <a:pt x="317500" y="914400"/>
                  </a:lnTo>
                  <a:cubicBezTo>
                    <a:pt x="142150" y="914400"/>
                    <a:pt x="0" y="772250"/>
                    <a:pt x="0" y="596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914400" cy="885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858500" y="4286250"/>
            <a:ext cx="723900" cy="723900"/>
            <a:chOff x="0" y="0"/>
            <a:chExt cx="965200" cy="965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300789" y="0"/>
                  </a:moveTo>
                  <a:lnTo>
                    <a:pt x="664411" y="0"/>
                  </a:lnTo>
                  <a:cubicBezTo>
                    <a:pt x="830532" y="0"/>
                    <a:pt x="965200" y="134668"/>
                    <a:pt x="965200" y="300789"/>
                  </a:cubicBezTo>
                  <a:lnTo>
                    <a:pt x="965200" y="664411"/>
                  </a:lnTo>
                  <a:cubicBezTo>
                    <a:pt x="965200" y="830532"/>
                    <a:pt x="830532" y="965200"/>
                    <a:pt x="664411" y="965200"/>
                  </a:cubicBezTo>
                  <a:lnTo>
                    <a:pt x="300789" y="965200"/>
                  </a:lnTo>
                  <a:cubicBezTo>
                    <a:pt x="134668" y="965200"/>
                    <a:pt x="0" y="830532"/>
                    <a:pt x="0" y="664411"/>
                  </a:cubicBezTo>
                  <a:lnTo>
                    <a:pt x="0" y="300789"/>
                  </a:lnTo>
                  <a:cubicBezTo>
                    <a:pt x="0" y="134668"/>
                    <a:pt x="134668" y="0"/>
                    <a:pt x="30078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9652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11000" y="4286250"/>
            <a:ext cx="723900" cy="723900"/>
            <a:chOff x="0" y="0"/>
            <a:chExt cx="965200" cy="965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300789" y="0"/>
                  </a:moveTo>
                  <a:lnTo>
                    <a:pt x="664411" y="0"/>
                  </a:lnTo>
                  <a:cubicBezTo>
                    <a:pt x="830532" y="0"/>
                    <a:pt x="965200" y="134668"/>
                    <a:pt x="965200" y="300789"/>
                  </a:cubicBezTo>
                  <a:lnTo>
                    <a:pt x="965200" y="664411"/>
                  </a:lnTo>
                  <a:cubicBezTo>
                    <a:pt x="965200" y="830532"/>
                    <a:pt x="830532" y="965200"/>
                    <a:pt x="664411" y="965200"/>
                  </a:cubicBezTo>
                  <a:lnTo>
                    <a:pt x="300789" y="965200"/>
                  </a:lnTo>
                  <a:cubicBezTo>
                    <a:pt x="134668" y="965200"/>
                    <a:pt x="0" y="830532"/>
                    <a:pt x="0" y="664411"/>
                  </a:cubicBezTo>
                  <a:lnTo>
                    <a:pt x="0" y="300789"/>
                  </a:lnTo>
                  <a:cubicBezTo>
                    <a:pt x="0" y="134668"/>
                    <a:pt x="134668" y="0"/>
                    <a:pt x="30078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28575"/>
              <a:ext cx="9652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763500" y="4286250"/>
            <a:ext cx="723900" cy="723900"/>
            <a:chOff x="0" y="0"/>
            <a:chExt cx="965200" cy="965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300789" y="0"/>
                  </a:moveTo>
                  <a:lnTo>
                    <a:pt x="664411" y="0"/>
                  </a:lnTo>
                  <a:cubicBezTo>
                    <a:pt x="830532" y="0"/>
                    <a:pt x="965200" y="134668"/>
                    <a:pt x="965200" y="300789"/>
                  </a:cubicBezTo>
                  <a:lnTo>
                    <a:pt x="965200" y="664411"/>
                  </a:lnTo>
                  <a:cubicBezTo>
                    <a:pt x="965200" y="830532"/>
                    <a:pt x="830532" y="965200"/>
                    <a:pt x="664411" y="965200"/>
                  </a:cubicBezTo>
                  <a:lnTo>
                    <a:pt x="300789" y="965200"/>
                  </a:lnTo>
                  <a:cubicBezTo>
                    <a:pt x="134668" y="965200"/>
                    <a:pt x="0" y="830532"/>
                    <a:pt x="0" y="664411"/>
                  </a:cubicBezTo>
                  <a:lnTo>
                    <a:pt x="0" y="300789"/>
                  </a:lnTo>
                  <a:cubicBezTo>
                    <a:pt x="0" y="134668"/>
                    <a:pt x="134668" y="0"/>
                    <a:pt x="30078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28575"/>
              <a:ext cx="9652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16000" y="4286250"/>
            <a:ext cx="723900" cy="723900"/>
            <a:chOff x="0" y="0"/>
            <a:chExt cx="965200" cy="965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300789" y="0"/>
                  </a:moveTo>
                  <a:lnTo>
                    <a:pt x="664411" y="0"/>
                  </a:lnTo>
                  <a:cubicBezTo>
                    <a:pt x="830532" y="0"/>
                    <a:pt x="965200" y="134668"/>
                    <a:pt x="965200" y="300789"/>
                  </a:cubicBezTo>
                  <a:lnTo>
                    <a:pt x="965200" y="664411"/>
                  </a:lnTo>
                  <a:cubicBezTo>
                    <a:pt x="965200" y="830532"/>
                    <a:pt x="830532" y="965200"/>
                    <a:pt x="664411" y="965200"/>
                  </a:cubicBezTo>
                  <a:lnTo>
                    <a:pt x="300789" y="965200"/>
                  </a:lnTo>
                  <a:cubicBezTo>
                    <a:pt x="134668" y="965200"/>
                    <a:pt x="0" y="830532"/>
                    <a:pt x="0" y="664411"/>
                  </a:cubicBezTo>
                  <a:lnTo>
                    <a:pt x="0" y="300789"/>
                  </a:lnTo>
                  <a:cubicBezTo>
                    <a:pt x="0" y="134668"/>
                    <a:pt x="134668" y="0"/>
                    <a:pt x="30078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28575"/>
              <a:ext cx="9652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68500" y="4286250"/>
            <a:ext cx="723900" cy="723900"/>
            <a:chOff x="0" y="0"/>
            <a:chExt cx="965200" cy="965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300789" y="0"/>
                  </a:moveTo>
                  <a:lnTo>
                    <a:pt x="664411" y="0"/>
                  </a:lnTo>
                  <a:cubicBezTo>
                    <a:pt x="830532" y="0"/>
                    <a:pt x="965200" y="134668"/>
                    <a:pt x="965200" y="300789"/>
                  </a:cubicBezTo>
                  <a:lnTo>
                    <a:pt x="965200" y="664411"/>
                  </a:lnTo>
                  <a:cubicBezTo>
                    <a:pt x="965200" y="830532"/>
                    <a:pt x="830532" y="965200"/>
                    <a:pt x="664411" y="965200"/>
                  </a:cubicBezTo>
                  <a:lnTo>
                    <a:pt x="300789" y="965200"/>
                  </a:lnTo>
                  <a:cubicBezTo>
                    <a:pt x="134668" y="965200"/>
                    <a:pt x="0" y="830532"/>
                    <a:pt x="0" y="664411"/>
                  </a:cubicBezTo>
                  <a:lnTo>
                    <a:pt x="0" y="300789"/>
                  </a:lnTo>
                  <a:cubicBezTo>
                    <a:pt x="0" y="134668"/>
                    <a:pt x="134668" y="0"/>
                    <a:pt x="30078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28575"/>
              <a:ext cx="9652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621000" y="4286250"/>
            <a:ext cx="723900" cy="723900"/>
            <a:chOff x="0" y="0"/>
            <a:chExt cx="965200" cy="965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5200" cy="965200"/>
            </a:xfrm>
            <a:custGeom>
              <a:avLst/>
              <a:gdLst/>
              <a:ahLst/>
              <a:cxnLst/>
              <a:rect r="r" b="b" t="t" l="l"/>
              <a:pathLst>
                <a:path h="965200" w="965200">
                  <a:moveTo>
                    <a:pt x="300789" y="0"/>
                  </a:moveTo>
                  <a:lnTo>
                    <a:pt x="664411" y="0"/>
                  </a:lnTo>
                  <a:cubicBezTo>
                    <a:pt x="830532" y="0"/>
                    <a:pt x="965200" y="134668"/>
                    <a:pt x="965200" y="300789"/>
                  </a:cubicBezTo>
                  <a:lnTo>
                    <a:pt x="965200" y="664411"/>
                  </a:lnTo>
                  <a:cubicBezTo>
                    <a:pt x="965200" y="830532"/>
                    <a:pt x="830532" y="965200"/>
                    <a:pt x="664411" y="965200"/>
                  </a:cubicBezTo>
                  <a:lnTo>
                    <a:pt x="300789" y="965200"/>
                  </a:lnTo>
                  <a:cubicBezTo>
                    <a:pt x="134668" y="965200"/>
                    <a:pt x="0" y="830532"/>
                    <a:pt x="0" y="664411"/>
                  </a:cubicBezTo>
                  <a:lnTo>
                    <a:pt x="0" y="300789"/>
                  </a:lnTo>
                  <a:cubicBezTo>
                    <a:pt x="0" y="134668"/>
                    <a:pt x="134668" y="0"/>
                    <a:pt x="30078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28575"/>
              <a:ext cx="9652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65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GO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38250" y="2914650"/>
            <a:ext cx="6667500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</a:pPr>
            <a:r>
              <a:rPr lang="en-US" sz="38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SERIAL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82250" y="2914650"/>
            <a:ext cx="6667500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</a:pPr>
            <a:r>
              <a:rPr lang="en-US" sz="38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PARALLEL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8250" y="5808767"/>
            <a:ext cx="6191250" cy="162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374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One ticket counter</a:t>
            </a:r>
          </a:p>
          <a:p>
            <a:pPr algn="ctr">
              <a:lnSpc>
                <a:spcPts val="4319"/>
              </a:lnSpc>
            </a:pPr>
            <a:r>
              <a:rPr lang="en-US" sz="3374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LOW LATENCY</a:t>
            </a:r>
          </a:p>
          <a:p>
            <a:pPr algn="ctr">
              <a:lnSpc>
                <a:spcPts val="4319"/>
              </a:lnSpc>
            </a:pPr>
            <a:r>
              <a:rPr lang="en-US" sz="3374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CPU strength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345081" y="5686425"/>
            <a:ext cx="8741837" cy="162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3"/>
              </a:lnSpc>
            </a:pPr>
            <a:r>
              <a:rPr lang="en-US" sz="336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100 counters open</a:t>
            </a:r>
          </a:p>
          <a:p>
            <a:pPr algn="ctr">
              <a:lnSpc>
                <a:spcPts val="4313"/>
              </a:lnSpc>
            </a:pPr>
            <a:r>
              <a:rPr lang="en-US" sz="336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HIGH THROUGHPUT</a:t>
            </a:r>
          </a:p>
          <a:p>
            <a:pPr algn="ctr">
              <a:lnSpc>
                <a:spcPts val="4313"/>
              </a:lnSpc>
            </a:pPr>
            <a:r>
              <a:rPr lang="en-US" sz="336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GPU strength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Different vs Same Together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12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Different vs Same Together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2857500"/>
            <a:ext cx="7239000" cy="2381250"/>
            <a:chOff x="0" y="0"/>
            <a:chExt cx="96520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52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9652000">
                  <a:moveTo>
                    <a:pt x="30079" y="0"/>
                  </a:moveTo>
                  <a:lnTo>
                    <a:pt x="9621921" y="0"/>
                  </a:lnTo>
                  <a:cubicBezTo>
                    <a:pt x="9629898" y="0"/>
                    <a:pt x="9637549" y="3169"/>
                    <a:pt x="9643190" y="8810"/>
                  </a:cubicBezTo>
                  <a:cubicBezTo>
                    <a:pt x="9648831" y="14451"/>
                    <a:pt x="9652000" y="22102"/>
                    <a:pt x="9652000" y="30079"/>
                  </a:cubicBezTo>
                  <a:lnTo>
                    <a:pt x="9652000" y="3144921"/>
                  </a:lnTo>
                  <a:cubicBezTo>
                    <a:pt x="9652000" y="3152898"/>
                    <a:pt x="9648831" y="3160549"/>
                    <a:pt x="9643190" y="3166190"/>
                  </a:cubicBezTo>
                  <a:cubicBezTo>
                    <a:pt x="9637549" y="3171831"/>
                    <a:pt x="9629898" y="3175000"/>
                    <a:pt x="9621921" y="3175000"/>
                  </a:cubicBezTo>
                  <a:lnTo>
                    <a:pt x="30079" y="3175000"/>
                  </a:lnTo>
                  <a:cubicBezTo>
                    <a:pt x="22102" y="3175000"/>
                    <a:pt x="14451" y="3171831"/>
                    <a:pt x="8810" y="3166190"/>
                  </a:cubicBezTo>
                  <a:cubicBezTo>
                    <a:pt x="3169" y="3160549"/>
                    <a:pt x="0" y="3152898"/>
                    <a:pt x="0" y="3144921"/>
                  </a:cubicBezTo>
                  <a:lnTo>
                    <a:pt x="0" y="30079"/>
                  </a:lnTo>
                  <a:cubicBezTo>
                    <a:pt x="0" y="22102"/>
                    <a:pt x="3169" y="14451"/>
                    <a:pt x="8810" y="8810"/>
                  </a:cubicBezTo>
                  <a:cubicBezTo>
                    <a:pt x="14451" y="3169"/>
                    <a:pt x="22102" y="0"/>
                    <a:pt x="30079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9652000" cy="3127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  <a:r>
                <a:rPr lang="en-US" sz="26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CPU • MIMD</a:t>
              </a:r>
            </a:p>
            <a:p>
              <a:pPr algn="ctr">
                <a:lnSpc>
                  <a:spcPts val="2782"/>
                </a:lnSpc>
              </a:pPr>
              <a:r>
                <a:rPr lang="en-US" sz="26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Different cores can do different jobs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06000" y="2857500"/>
            <a:ext cx="7239000" cy="2381250"/>
            <a:chOff x="0" y="0"/>
            <a:chExt cx="9652000" cy="317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2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9652000">
                  <a:moveTo>
                    <a:pt x="30079" y="0"/>
                  </a:moveTo>
                  <a:lnTo>
                    <a:pt x="9621921" y="0"/>
                  </a:lnTo>
                  <a:cubicBezTo>
                    <a:pt x="9629898" y="0"/>
                    <a:pt x="9637549" y="3169"/>
                    <a:pt x="9643190" y="8810"/>
                  </a:cubicBezTo>
                  <a:cubicBezTo>
                    <a:pt x="9648831" y="14451"/>
                    <a:pt x="9652000" y="22102"/>
                    <a:pt x="9652000" y="30079"/>
                  </a:cubicBezTo>
                  <a:lnTo>
                    <a:pt x="9652000" y="3144921"/>
                  </a:lnTo>
                  <a:cubicBezTo>
                    <a:pt x="9652000" y="3152898"/>
                    <a:pt x="9648831" y="3160549"/>
                    <a:pt x="9643190" y="3166190"/>
                  </a:cubicBezTo>
                  <a:cubicBezTo>
                    <a:pt x="9637549" y="3171831"/>
                    <a:pt x="9629898" y="3175000"/>
                    <a:pt x="9621921" y="3175000"/>
                  </a:cubicBezTo>
                  <a:lnTo>
                    <a:pt x="30079" y="3175000"/>
                  </a:lnTo>
                  <a:cubicBezTo>
                    <a:pt x="22102" y="3175000"/>
                    <a:pt x="14451" y="3171831"/>
                    <a:pt x="8810" y="3166190"/>
                  </a:cubicBezTo>
                  <a:cubicBezTo>
                    <a:pt x="3169" y="3160549"/>
                    <a:pt x="0" y="3152898"/>
                    <a:pt x="0" y="3144921"/>
                  </a:cubicBezTo>
                  <a:lnTo>
                    <a:pt x="0" y="30079"/>
                  </a:lnTo>
                  <a:cubicBezTo>
                    <a:pt x="0" y="22102"/>
                    <a:pt x="3169" y="14451"/>
                    <a:pt x="8810" y="8810"/>
                  </a:cubicBezTo>
                  <a:cubicBezTo>
                    <a:pt x="14451" y="3169"/>
                    <a:pt x="22102" y="0"/>
                    <a:pt x="30079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57150"/>
              <a:ext cx="9652000" cy="311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7"/>
                </a:lnSpc>
              </a:pPr>
              <a:r>
                <a:rPr lang="en-US" sz="29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GPU • SIMD / SIMT</a:t>
              </a:r>
            </a:p>
            <a:p>
              <a:pPr algn="ctr">
                <a:lnSpc>
                  <a:spcPts val="3097"/>
                </a:lnSpc>
              </a:pPr>
              <a:r>
                <a:rPr lang="en-US" sz="29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One instruction, lots of data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95750" y="6783296"/>
            <a:ext cx="100965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99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Example: add 20 to every pixel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3532" y="8401939"/>
            <a:ext cx="15501468" cy="4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28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GPU threads march in teams called WARPS — usually 32 threads moving in lockstep.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Where Does the Chip Space Go?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14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Where Does the Chip Space Go?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2809875"/>
            <a:ext cx="7239000" cy="5810250"/>
            <a:chOff x="0" y="0"/>
            <a:chExt cx="9652000" cy="774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52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247F78">
                <a:alpha val="80000"/>
              </a:srgbClr>
            </a:solidFill>
            <a:ln w="76200" cap="sq">
              <a:solidFill>
                <a:srgbClr val="17324D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52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06000" y="2809875"/>
            <a:ext cx="7239000" cy="5810250"/>
            <a:chOff x="0" y="0"/>
            <a:chExt cx="9652000" cy="774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20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D94B2B">
                <a:alpha val="80000"/>
              </a:srgbClr>
            </a:solidFill>
            <a:ln w="76200" cap="sq">
              <a:solidFill>
                <a:srgbClr val="17324D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6520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24000" y="3228975"/>
            <a:ext cx="6477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78545" y="4448175"/>
            <a:ext cx="9682090" cy="272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6"/>
              </a:lnSpc>
            </a:pPr>
            <a:r>
              <a:rPr lang="en-US" sz="344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LARGE CONTROL LOGIC</a:t>
            </a:r>
          </a:p>
          <a:p>
            <a:pPr algn="ctr">
              <a:lnSpc>
                <a:spcPts val="4406"/>
              </a:lnSpc>
            </a:pPr>
            <a:r>
              <a:rPr lang="en-US" sz="344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BIG CACHE</a:t>
            </a:r>
          </a:p>
          <a:p>
            <a:pPr algn="ctr">
              <a:lnSpc>
                <a:spcPts val="4406"/>
              </a:lnSpc>
            </a:pPr>
            <a:r>
              <a:rPr lang="en-US" sz="344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FEW BIG ALUs</a:t>
            </a:r>
          </a:p>
          <a:p>
            <a:pPr algn="ctr">
              <a:lnSpc>
                <a:spcPts val="4406"/>
              </a:lnSpc>
            </a:pPr>
          </a:p>
          <a:p>
            <a:pPr algn="ctr">
              <a:lnSpc>
                <a:spcPts val="4406"/>
              </a:lnSpc>
            </a:pPr>
            <a:r>
              <a:rPr lang="en-US" sz="344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Silicon spent on management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0" y="3228975"/>
            <a:ext cx="64770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GPU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60702" y="4448175"/>
            <a:ext cx="10129595" cy="285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0"/>
              </a:lnSpc>
            </a:pPr>
            <a:r>
              <a:rPr lang="en-US" sz="360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MANY, MANY ALUs</a:t>
            </a:r>
          </a:p>
          <a:p>
            <a:pPr algn="ctr">
              <a:lnSpc>
                <a:spcPts val="4610"/>
              </a:lnSpc>
            </a:pPr>
            <a:r>
              <a:rPr lang="en-US" sz="360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SMALLER CONTROL</a:t>
            </a:r>
          </a:p>
          <a:p>
            <a:pPr algn="ctr">
              <a:lnSpc>
                <a:spcPts val="4610"/>
              </a:lnSpc>
            </a:pPr>
            <a:r>
              <a:rPr lang="en-US" sz="360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SMALLER CACHE</a:t>
            </a:r>
          </a:p>
          <a:p>
            <a:pPr algn="ctr">
              <a:lnSpc>
                <a:spcPts val="4610"/>
              </a:lnSpc>
            </a:pPr>
          </a:p>
          <a:p>
            <a:pPr algn="ctr">
              <a:lnSpc>
                <a:spcPts val="4610"/>
              </a:lnSpc>
            </a:pPr>
            <a:r>
              <a:rPr lang="en-US" sz="3602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Silicon spent on workers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43750" y="2857500"/>
            <a:ext cx="4000500" cy="1000125"/>
            <a:chOff x="0" y="0"/>
            <a:chExt cx="5334000" cy="133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279071"/>
                  </a:lnTo>
                  <a:cubicBezTo>
                    <a:pt x="5334000" y="1309132"/>
                    <a:pt x="5309631" y="1333500"/>
                    <a:pt x="5279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17324D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334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2"/>
                </a:lnSpc>
              </a:pPr>
              <a:r>
                <a:rPr lang="en-US" sz="22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REGISTERS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48375" y="4238625"/>
            <a:ext cx="6191250" cy="1000125"/>
            <a:chOff x="0" y="0"/>
            <a:chExt cx="8255000" cy="13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5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1298331"/>
                  </a:lnTo>
                  <a:cubicBezTo>
                    <a:pt x="8255000" y="1317754"/>
                    <a:pt x="8239254" y="1333500"/>
                    <a:pt x="8219831" y="1333500"/>
                  </a:cubicBezTo>
                  <a:lnTo>
                    <a:pt x="35169" y="1333500"/>
                  </a:lnTo>
                  <a:cubicBezTo>
                    <a:pt x="15746" y="1333500"/>
                    <a:pt x="0" y="1317754"/>
                    <a:pt x="0" y="12983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8255000" cy="129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7"/>
                </a:lnSpc>
              </a:pPr>
              <a:r>
                <a:rPr lang="en-US" sz="23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L1 / L2 / L3 CACHE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57750" y="5619750"/>
            <a:ext cx="8572500" cy="1000125"/>
            <a:chOff x="0" y="0"/>
            <a:chExt cx="11430000" cy="13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3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308100"/>
                  </a:lnTo>
                  <a:cubicBezTo>
                    <a:pt x="11430000" y="1322128"/>
                    <a:pt x="11418628" y="1333500"/>
                    <a:pt x="11404600" y="1333500"/>
                  </a:cubicBezTo>
                  <a:lnTo>
                    <a:pt x="25400" y="1333500"/>
                  </a:lnTo>
                  <a:cubicBezTo>
                    <a:pt x="11372" y="1333500"/>
                    <a:pt x="0" y="1322128"/>
                    <a:pt x="0" y="1308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11430000" cy="1295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RAM / VRAM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19500" y="7000875"/>
            <a:ext cx="11049000" cy="1000125"/>
            <a:chOff x="0" y="0"/>
            <a:chExt cx="14732000" cy="1333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32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4732000">
                  <a:moveTo>
                    <a:pt x="19707" y="0"/>
                  </a:moveTo>
                  <a:lnTo>
                    <a:pt x="14712293" y="0"/>
                  </a:lnTo>
                  <a:cubicBezTo>
                    <a:pt x="14723177" y="0"/>
                    <a:pt x="14732000" y="8823"/>
                    <a:pt x="14732000" y="19707"/>
                  </a:cubicBezTo>
                  <a:lnTo>
                    <a:pt x="14732000" y="1313793"/>
                  </a:lnTo>
                  <a:cubicBezTo>
                    <a:pt x="14732000" y="1324677"/>
                    <a:pt x="14723177" y="1333500"/>
                    <a:pt x="14712293" y="1333500"/>
                  </a:cubicBezTo>
                  <a:lnTo>
                    <a:pt x="19707" y="1333500"/>
                  </a:lnTo>
                  <a:cubicBezTo>
                    <a:pt x="8823" y="1333500"/>
                    <a:pt x="0" y="1324677"/>
                    <a:pt x="0" y="1313793"/>
                  </a:cubicBezTo>
                  <a:lnTo>
                    <a:pt x="0" y="19707"/>
                  </a:lnTo>
                  <a:cubicBezTo>
                    <a:pt x="0" y="8823"/>
                    <a:pt x="8823" y="0"/>
                    <a:pt x="19707" y="0"/>
                  </a:cubicBezTo>
                  <a:close/>
                </a:path>
              </a:pathLst>
            </a:custGeom>
            <a:solidFill>
              <a:srgbClr val="633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14732000" cy="1285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  <a:r>
                <a:rPr lang="en-US" sz="26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STORAGE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Memory: Cache + RAM vs VRAM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15  •  COMPUTER SYSTEMS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Memory: Cache + RAM vs VRAM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250" y="8763000"/>
            <a:ext cx="781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9"/>
              </a:lnSpc>
            </a:pPr>
            <a:r>
              <a:rPr lang="en-US" sz="2424">
                <a:solidFill>
                  <a:srgbClr val="17324D"/>
                </a:solidFill>
                <a:latin typeface="DM Sans"/>
                <a:ea typeface="DM Sans"/>
                <a:cs typeface="DM Sans"/>
                <a:sym typeface="DM Sans"/>
              </a:rPr>
              <a:t>CPU: sports car — low delay for a few passengers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0250" y="8763000"/>
            <a:ext cx="7810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9"/>
              </a:lnSpc>
            </a:pPr>
            <a:r>
              <a:rPr lang="en-US" sz="2424">
                <a:solidFill>
                  <a:srgbClr val="17324D"/>
                </a:solidFill>
                <a:latin typeface="DM Sans"/>
                <a:ea typeface="DM Sans"/>
                <a:cs typeface="DM Sans"/>
                <a:sym typeface="DM Sans"/>
              </a:rPr>
              <a:t>GPU VRAM: bus — huge bandwidth for thousands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Worked Example: Add 1,000,000 Numbers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17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Worked Example: Add 1,000,000 Numbers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8091" y="1971028"/>
            <a:ext cx="10312375" cy="7485085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572750" y="3095625"/>
            <a:ext cx="619125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49" b="true">
                <a:solidFill>
                  <a:srgbClr val="247F78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72750" y="3901630"/>
            <a:ext cx="6191250" cy="42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5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~125,000 additions per core, step by step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72750" y="5334000"/>
            <a:ext cx="619125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49" b="true">
                <a:solidFill>
                  <a:srgbClr val="D94B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GPU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72750" y="6148387"/>
            <a:ext cx="6191250" cy="7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3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Each core gets a few additions; thousands run together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72750" y="7867078"/>
            <a:ext cx="6858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19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THINK: what if every step needs the previous result?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When the GPU Does NOT Help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19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When the GPU Does NOT Help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3048000"/>
            <a:ext cx="4762500" cy="3429000"/>
            <a:chOff x="0" y="0"/>
            <a:chExt cx="6350000" cy="457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350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58000" y="3048000"/>
            <a:ext cx="4762500" cy="3429000"/>
            <a:chOff x="0" y="0"/>
            <a:chExt cx="6350000" cy="457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350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73000" y="3048000"/>
            <a:ext cx="4762500" cy="3429000"/>
            <a:chOff x="0" y="0"/>
            <a:chExt cx="6350000" cy="457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50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76375" y="3514725"/>
            <a:ext cx="4095750" cy="3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4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DEPENDENT STEPS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625" y="4610100"/>
            <a:ext cx="39052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>One result must wait for another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91375" y="3514725"/>
            <a:ext cx="4095750" cy="3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4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BRANCH DIVERGENCE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86625" y="4610100"/>
            <a:ext cx="39052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>If/else makes warp members wait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06375" y="3514725"/>
            <a:ext cx="4095750" cy="3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4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SMALL TASKS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01625" y="4610100"/>
            <a:ext cx="3905250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499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>PCIe copying costs more than it saves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71750" y="8368665"/>
            <a:ext cx="133350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Amdahl’s idea: parallel speedup is limited by the part that must stay serial — like a group project waiting on one person.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 vs GPU: Side by Side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21  •  COMPUTER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 vs GPU: Side by Side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2500" y="2667000"/>
            <a:ext cx="16383000" cy="704850"/>
            <a:chOff x="0" y="0"/>
            <a:chExt cx="21844000" cy="939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AF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3486150"/>
            <a:ext cx="16383000" cy="704850"/>
            <a:chOff x="0" y="0"/>
            <a:chExt cx="21844000" cy="93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4305300"/>
            <a:ext cx="16383000" cy="704850"/>
            <a:chOff x="0" y="0"/>
            <a:chExt cx="2184400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AF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2500" y="5124450"/>
            <a:ext cx="16383000" cy="704850"/>
            <a:chOff x="0" y="0"/>
            <a:chExt cx="21844000" cy="939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5943600"/>
            <a:ext cx="16383000" cy="704850"/>
            <a:chOff x="0" y="0"/>
            <a:chExt cx="21844000" cy="93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AF0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6762750"/>
            <a:ext cx="16383000" cy="704850"/>
            <a:chOff x="0" y="0"/>
            <a:chExt cx="21844000" cy="93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2500" y="7581900"/>
            <a:ext cx="16383000" cy="704850"/>
            <a:chOff x="0" y="0"/>
            <a:chExt cx="21844000" cy="939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AF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2500" y="8401050"/>
            <a:ext cx="16383000" cy="704850"/>
            <a:chOff x="0" y="0"/>
            <a:chExt cx="21844000" cy="93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844000" cy="939800"/>
            </a:xfrm>
            <a:custGeom>
              <a:avLst/>
              <a:gdLst/>
              <a:ahLst/>
              <a:cxnLst/>
              <a:rect r="r" b="b" t="t" l="l"/>
              <a:pathLst>
                <a:path h="9398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FFF0C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844000" cy="97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90625" y="284797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Full form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72000" y="284797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Central Processing Unit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72750" y="284797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Graphics Processing Unit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0625" y="366712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Cores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572000" y="366712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Few powerful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72750" y="366712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Thousands simple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0625" y="448627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Best at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72000" y="448627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Decisions + serial work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72750" y="448627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Repeated parallel maths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0625" y="530542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72000" y="530542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Low latency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572750" y="530542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High throughput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0625" y="612457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Memory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572000" y="612457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RAM + large caches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72750" y="612457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VRAM + high bandwidth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90625" y="694372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Style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572000" y="694372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Flexible MIMD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572750" y="694372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SIMD / SIMT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90625" y="776287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Typical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572000" y="776287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OS, apps, files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572750" y="776287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Graphics, AI, simulation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90625" y="8582025"/>
            <a:ext cx="3143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Analogy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572000" y="8582025"/>
            <a:ext cx="5429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247F78"/>
                </a:solidFill>
                <a:latin typeface="DM Sans Bold"/>
                <a:ea typeface="DM Sans Bold"/>
                <a:cs typeface="DM Sans Bold"/>
                <a:sym typeface="DM Sans Bold"/>
              </a:rPr>
              <a:t>Head chef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572750" y="8582025"/>
            <a:ext cx="61912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D94B2B"/>
                </a:solidFill>
                <a:latin typeface="DM Sans Bold"/>
                <a:ea typeface="DM Sans Bold"/>
                <a:cs typeface="DM Sans Bold"/>
                <a:sym typeface="DM Sans Bold"/>
              </a:rPr>
              <a:t>Army of line cooks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Where They Are Used in Real Life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22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Where They Are Used in Real Life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33500" y="2857500"/>
            <a:ext cx="6667500" cy="1066800"/>
            <a:chOff x="0" y="0"/>
            <a:chExt cx="8890000" cy="142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Operating system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0" y="2857500"/>
            <a:ext cx="6667500" cy="1066800"/>
            <a:chOff x="0" y="0"/>
            <a:chExt cx="8890000" cy="142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Gaming + video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500" y="4333875"/>
            <a:ext cx="6667500" cy="1066800"/>
            <a:chOff x="0" y="0"/>
            <a:chExt cx="8890000" cy="142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Web + spreadsheets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0" y="4333875"/>
            <a:ext cx="6667500" cy="1066800"/>
            <a:chOff x="0" y="0"/>
            <a:chExt cx="8890000" cy="142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3D animation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33500" y="5810250"/>
            <a:ext cx="6667500" cy="1066800"/>
            <a:chOff x="0" y="0"/>
            <a:chExt cx="8890000" cy="142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Compile code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0" y="5810250"/>
            <a:ext cx="6667500" cy="1066800"/>
            <a:chOff x="0" y="0"/>
            <a:chExt cx="8890000" cy="142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 training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33500" y="7286625"/>
            <a:ext cx="6667500" cy="1066800"/>
            <a:chOff x="0" y="0"/>
            <a:chExt cx="8890000" cy="1422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File handling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0" y="7286625"/>
            <a:ext cx="6667500" cy="1066800"/>
            <a:chOff x="0" y="0"/>
            <a:chExt cx="8890000" cy="1422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90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389743"/>
                  </a:lnTo>
                  <a:cubicBezTo>
                    <a:pt x="8890000" y="1398404"/>
                    <a:pt x="8886559" y="1406711"/>
                    <a:pt x="8880435" y="1412835"/>
                  </a:cubicBezTo>
                  <a:cubicBezTo>
                    <a:pt x="8874310" y="1418959"/>
                    <a:pt x="8866004" y="1422400"/>
                    <a:pt x="8857343" y="1422400"/>
                  </a:cubicBezTo>
                  <a:lnTo>
                    <a:pt x="32657" y="1422400"/>
                  </a:lnTo>
                  <a:cubicBezTo>
                    <a:pt x="23996" y="1422400"/>
                    <a:pt x="15689" y="1418959"/>
                    <a:pt x="9565" y="1412835"/>
                  </a:cubicBezTo>
                  <a:cubicBezTo>
                    <a:pt x="3441" y="1406711"/>
                    <a:pt x="0" y="1398404"/>
                    <a:pt x="0" y="13897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38100"/>
              <a:ext cx="8890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  <a:r>
                <a:rPr lang="en-US" sz="2600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Science + weather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429000" y="2143125"/>
            <a:ext cx="247650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sz="37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82500" y="2143125"/>
            <a:ext cx="247650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sz="37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GPU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95750" y="9172575"/>
            <a:ext cx="10096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b="true">
                <a:solidFill>
                  <a:srgbClr val="17324D"/>
                </a:solidFill>
                <a:latin typeface="DM Sans Bold"/>
                <a:ea typeface="DM Sans Bold"/>
                <a:cs typeface="DM Sans Bold"/>
                <a:sym typeface="DM Sans Bold"/>
              </a:rPr>
              <a:t>Tensor cores are specialised GPU units for matrix maths.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Better Together: CPU + GPU Workflow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23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Better Together: CPU + GPU Workflow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3714750"/>
            <a:ext cx="2857500" cy="2095500"/>
            <a:chOff x="0" y="0"/>
            <a:chExt cx="3810000" cy="279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717800"/>
                  </a:lnTo>
                  <a:cubicBezTo>
                    <a:pt x="3810000" y="2759884"/>
                    <a:pt x="3775884" y="2794000"/>
                    <a:pt x="3733800" y="2794000"/>
                  </a:cubicBezTo>
                  <a:lnTo>
                    <a:pt x="76200" y="2794000"/>
                  </a:lnTo>
                  <a:cubicBezTo>
                    <a:pt x="34116" y="2794000"/>
                    <a:pt x="0" y="2759884"/>
                    <a:pt x="0" y="271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3810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Program starts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 CPU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3714750" y="4762500"/>
            <a:ext cx="619125" cy="0"/>
          </a:xfrm>
          <a:prstGeom prst="line">
            <a:avLst/>
          </a:prstGeom>
          <a:ln cap="flat" w="85725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4333875" y="3714750"/>
            <a:ext cx="2857500" cy="2095500"/>
            <a:chOff x="0" y="0"/>
            <a:chExt cx="3810000" cy="279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717800"/>
                  </a:lnTo>
                  <a:cubicBezTo>
                    <a:pt x="3810000" y="2759884"/>
                    <a:pt x="3775884" y="2794000"/>
                    <a:pt x="3733800" y="2794000"/>
                  </a:cubicBezTo>
                  <a:lnTo>
                    <a:pt x="76200" y="2794000"/>
                  </a:lnTo>
                  <a:cubicBezTo>
                    <a:pt x="34116" y="2794000"/>
                    <a:pt x="0" y="2759884"/>
                    <a:pt x="0" y="271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3810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CPU prepares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7191375" y="4762500"/>
            <a:ext cx="619125" cy="0"/>
          </a:xfrm>
          <a:prstGeom prst="line">
            <a:avLst/>
          </a:prstGeom>
          <a:ln cap="flat" w="85725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7810500" y="3714750"/>
            <a:ext cx="2857500" cy="2095500"/>
            <a:chOff x="0" y="0"/>
            <a:chExt cx="3810000" cy="279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717800"/>
                  </a:lnTo>
                  <a:cubicBezTo>
                    <a:pt x="3810000" y="2759884"/>
                    <a:pt x="3775884" y="2794000"/>
                    <a:pt x="3733800" y="2794000"/>
                  </a:cubicBezTo>
                  <a:lnTo>
                    <a:pt x="76200" y="2794000"/>
                  </a:lnTo>
                  <a:cubicBezTo>
                    <a:pt x="34116" y="2794000"/>
                    <a:pt x="0" y="2759884"/>
                    <a:pt x="0" y="271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3810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Copy to GPU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memory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0668000" y="4762500"/>
            <a:ext cx="619125" cy="0"/>
          </a:xfrm>
          <a:prstGeom prst="line">
            <a:avLst/>
          </a:prstGeom>
          <a:ln cap="flat" w="85725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287125" y="3714750"/>
            <a:ext cx="2857500" cy="2095500"/>
            <a:chOff x="0" y="0"/>
            <a:chExt cx="3810000" cy="279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717800"/>
                  </a:lnTo>
                  <a:cubicBezTo>
                    <a:pt x="3810000" y="2759884"/>
                    <a:pt x="3775884" y="2794000"/>
                    <a:pt x="3733800" y="2794000"/>
                  </a:cubicBezTo>
                  <a:lnTo>
                    <a:pt x="76200" y="2794000"/>
                  </a:lnTo>
                  <a:cubicBezTo>
                    <a:pt x="34116" y="2794000"/>
                    <a:pt x="0" y="2759884"/>
                    <a:pt x="0" y="271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94B2B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38100"/>
              <a:ext cx="3810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GPU computes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 parallel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4144625" y="4762500"/>
            <a:ext cx="619125" cy="0"/>
          </a:xfrm>
          <a:prstGeom prst="line">
            <a:avLst/>
          </a:prstGeom>
          <a:ln cap="flat" w="85725">
            <a:solidFill>
              <a:srgbClr val="1732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763750" y="3714750"/>
            <a:ext cx="2857500" cy="2095500"/>
            <a:chOff x="0" y="0"/>
            <a:chExt cx="3810000" cy="279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717800"/>
                  </a:lnTo>
                  <a:cubicBezTo>
                    <a:pt x="3810000" y="2759884"/>
                    <a:pt x="3775884" y="2794000"/>
                    <a:pt x="3733800" y="2794000"/>
                  </a:cubicBezTo>
                  <a:lnTo>
                    <a:pt x="76200" y="2794000"/>
                  </a:lnTo>
                  <a:cubicBezTo>
                    <a:pt x="34116" y="2794000"/>
                    <a:pt x="0" y="2759884"/>
                    <a:pt x="0" y="271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47F78"/>
            </a:solidFill>
            <a:ln w="47625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38100"/>
              <a:ext cx="3810000" cy="275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Results return</a:t>
              </a:r>
            </a:p>
            <a:p>
              <a:pPr algn="ctr">
                <a:lnSpc>
                  <a:spcPts val="2677"/>
                </a:lnSpc>
              </a:pPr>
              <a:r>
                <a:rPr lang="en-US" sz="2549" b="true">
                  <a:solidFill>
                    <a:srgbClr val="FFFA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 CPU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43109" y="7485917"/>
            <a:ext cx="16601781" cy="48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7"/>
              </a:lnSpc>
            </a:pPr>
            <a:r>
              <a:rPr lang="en-US" sz="35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Integrated GPU: inside the same chip  •  Dedicated GPU: a separate card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62500" y="8829675"/>
            <a:ext cx="8763000" cy="5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1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The CPU still conducts the whole system.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72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529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Quiz Time!!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25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1028700"/>
            <a:ext cx="14287500" cy="72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5299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Quiz Time!!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8750" y="2619375"/>
            <a:ext cx="15430500" cy="1066800"/>
            <a:chOff x="0" y="0"/>
            <a:chExt cx="20574000" cy="142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7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AF0"/>
            </a:solidFill>
            <a:ln w="3810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57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8750" y="3952875"/>
            <a:ext cx="15430500" cy="1066800"/>
            <a:chOff x="0" y="0"/>
            <a:chExt cx="20574000" cy="142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7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0CF"/>
            </a:solidFill>
            <a:ln w="3810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57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8750" y="5286375"/>
            <a:ext cx="15430500" cy="1066800"/>
            <a:chOff x="0" y="0"/>
            <a:chExt cx="20574000" cy="142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57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AF0"/>
            </a:solidFill>
            <a:ln w="3810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57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" y="6619875"/>
            <a:ext cx="15430500" cy="1066800"/>
            <a:chOff x="0" y="0"/>
            <a:chExt cx="20574000" cy="142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57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0CF"/>
            </a:solidFill>
            <a:ln w="3810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57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28750" y="7953375"/>
            <a:ext cx="15430500" cy="1066800"/>
            <a:chOff x="0" y="0"/>
            <a:chExt cx="20574000" cy="142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57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FFAF0"/>
            </a:solidFill>
            <a:ln w="3810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57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857375" y="2867025"/>
            <a:ext cx="90487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1  Which has more cores?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0" y="2867025"/>
            <a:ext cx="4762500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8"/>
              </a:lnSpc>
            </a:pPr>
            <a:r>
              <a:rPr lang="en-US" sz="2100">
                <a:solidFill>
                  <a:srgbClr val="247F78"/>
                </a:solidFill>
                <a:latin typeface="Bree Serif"/>
                <a:ea typeface="Bree Serif"/>
                <a:cs typeface="Bree Serif"/>
                <a:sym typeface="Bree Serif"/>
              </a:rPr>
              <a:t>GPU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57375" y="4200525"/>
            <a:ext cx="90487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2  Which runs the operating system?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30000" y="4200525"/>
            <a:ext cx="4762500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8"/>
              </a:lnSpc>
            </a:pPr>
            <a:r>
              <a:rPr lang="en-US" sz="2100">
                <a:solidFill>
                  <a:srgbClr val="D94B2B"/>
                </a:solidFill>
                <a:latin typeface="Bree Serif"/>
                <a:ea typeface="Bree Serif"/>
                <a:cs typeface="Bree Serif"/>
                <a:sym typeface="Bree Serif"/>
              </a:rPr>
              <a:t>CPU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57375" y="5534025"/>
            <a:ext cx="90487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3  What is VRAM?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30000" y="5534025"/>
            <a:ext cx="4762500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8"/>
              </a:lnSpc>
            </a:pPr>
            <a:r>
              <a:rPr lang="en-US" sz="2100">
                <a:solidFill>
                  <a:srgbClr val="247F78"/>
                </a:solidFill>
                <a:latin typeface="Bree Serif"/>
                <a:ea typeface="Bree Serif"/>
                <a:cs typeface="Bree Serif"/>
                <a:sym typeface="Bree Serif"/>
              </a:rPr>
              <a:t>GPU’s own fast memory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57375" y="6867525"/>
            <a:ext cx="90487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4  What is a warp?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30000" y="6867525"/>
            <a:ext cx="4762500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8"/>
              </a:lnSpc>
            </a:pPr>
            <a:r>
              <a:rPr lang="en-US" sz="2100">
                <a:solidFill>
                  <a:srgbClr val="D94B2B"/>
                </a:solidFill>
                <a:latin typeface="Bree Serif"/>
                <a:ea typeface="Bree Serif"/>
                <a:cs typeface="Bree Serif"/>
                <a:sym typeface="Bree Serif"/>
              </a:rPr>
              <a:t>32 threads in lockstep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57375" y="8201025"/>
            <a:ext cx="904875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999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5  Is a GPU always faster?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0" y="8201025"/>
            <a:ext cx="4762500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8"/>
              </a:lnSpc>
            </a:pPr>
            <a:r>
              <a:rPr lang="en-US" sz="2100">
                <a:solidFill>
                  <a:srgbClr val="247F78"/>
                </a:solidFill>
                <a:latin typeface="Bree Serif"/>
                <a:ea typeface="Bree Serif"/>
                <a:cs typeface="Bree Serif"/>
                <a:sym typeface="Bree Serif"/>
              </a:rPr>
              <a:t>False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5" grpId="0"/>
      <p:bldP spid="37" grpId="0"/>
      <p:bldP spid="39" grpId="0"/>
    </p:bldLst>
  </p:timing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71950" y="646524"/>
            <a:ext cx="9906000" cy="5334000"/>
            <a:chOff x="0" y="0"/>
            <a:chExt cx="13208000" cy="711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8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3208000">
                  <a:moveTo>
                    <a:pt x="6604000" y="0"/>
                  </a:moveTo>
                  <a:lnTo>
                    <a:pt x="7924800" y="1778000"/>
                  </a:lnTo>
                  <a:lnTo>
                    <a:pt x="10830560" y="568960"/>
                  </a:lnTo>
                  <a:lnTo>
                    <a:pt x="10302240" y="2560320"/>
                  </a:lnTo>
                  <a:lnTo>
                    <a:pt x="13208000" y="2275840"/>
                  </a:lnTo>
                  <a:lnTo>
                    <a:pt x="10830560" y="3698240"/>
                  </a:lnTo>
                  <a:lnTo>
                    <a:pt x="13208000" y="4978400"/>
                  </a:lnTo>
                  <a:lnTo>
                    <a:pt x="9906000" y="4836160"/>
                  </a:lnTo>
                  <a:lnTo>
                    <a:pt x="10830560" y="6827520"/>
                  </a:lnTo>
                  <a:lnTo>
                    <a:pt x="7660640" y="5476240"/>
                  </a:lnTo>
                  <a:lnTo>
                    <a:pt x="6339840" y="7112000"/>
                  </a:lnTo>
                  <a:lnTo>
                    <a:pt x="5283200" y="5334000"/>
                  </a:lnTo>
                  <a:lnTo>
                    <a:pt x="1981200" y="6685280"/>
                  </a:lnTo>
                  <a:lnTo>
                    <a:pt x="2905760" y="4693920"/>
                  </a:lnTo>
                  <a:lnTo>
                    <a:pt x="0" y="4409440"/>
                  </a:lnTo>
                  <a:lnTo>
                    <a:pt x="2641600" y="3200400"/>
                  </a:lnTo>
                  <a:lnTo>
                    <a:pt x="264160" y="1920240"/>
                  </a:lnTo>
                  <a:lnTo>
                    <a:pt x="3698240" y="2133600"/>
                  </a:lnTo>
                  <a:lnTo>
                    <a:pt x="4622800" y="284480"/>
                  </a:lnTo>
                  <a:close/>
                </a:path>
              </a:pathLst>
            </a:custGeom>
            <a:solidFill>
              <a:srgbClr val="D94B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208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43500" y="2647950"/>
            <a:ext cx="8001000" cy="9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8"/>
              </a:lnSpc>
            </a:pPr>
            <a:r>
              <a:rPr lang="en-US" sz="69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THANK YOU!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72250" y="3741896"/>
            <a:ext cx="51435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sz="315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8750" y="6934200"/>
            <a:ext cx="6667500" cy="59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4350" b="true">
                <a:solidFill>
                  <a:srgbClr val="247F78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750" y="7696200"/>
            <a:ext cx="6667500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few smart cores • low latency • flexible boss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91750" y="6934200"/>
            <a:ext cx="6667500" cy="59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4350" b="true">
                <a:solidFill>
                  <a:srgbClr val="D94B2B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GPU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91750" y="7705725"/>
            <a:ext cx="66675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875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>thousands of simple cores • high throughput • parallel muscle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62450" y="9089708"/>
            <a:ext cx="9525000" cy="48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49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Neither is better. They are partners.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Inside a GPU: SMs &amp; Warps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09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Inside a GPU: SMs &amp; Warps</a:t>
            </a:r>
          </a:p>
        </p:txBody>
      </p:sp>
      <p:sp>
        <p:nvSpPr>
          <p:cNvPr id="98" name="Zoom hint"/>
          <p:cNvSpPr txBox="1"/>
          <p:nvPr/>
        </p:nvSpPr>
        <p:spPr>
          <a:xfrm>
            <a:off x="914400" y="1783080"/>
            <a:ext cx="1463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>
                <a:solidFill>
                  <a:srgbClr val="633B2B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Zoom in, one layer at a time: chip → SM → warp → thread</a:t>
            </a:r>
          </a:p>
        </p:txBody>
      </p:sp>
      <p:sp>
        <p:nvSpPr>
          <p:cNvPr id="100" name="Level 1 card"/>
          <p:cNvSpPr/>
          <p:nvPr/>
        </p:nvSpPr>
        <p:spPr>
          <a:xfrm>
            <a:off x="914400" y="256032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GPU</a:t>
            </a:r>
          </a:p>
          <a:p>
            <a:pPr algn="l">
              <a:spcAft>
                <a:spcPts val="900"/>
              </a:spcAft>
            </a:pPr>
            <a:r>
              <a:rPr lang="en-US" sz="2200">
                <a:solidFill>
                  <a:srgbClr val="FFF0CF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The whole chip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Dozens to 100+ SMs sharing one big pool of VRAM</a:t>
            </a:r>
          </a:p>
        </p:txBody>
      </p:sp>
      <p:sp>
        <p:nvSpPr>
          <p:cNvPr id="101" name="Level 2 card"/>
          <p:cNvSpPr/>
          <p:nvPr/>
        </p:nvSpPr>
        <p:spPr>
          <a:xfrm>
            <a:off x="5212080" y="256032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247F78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SM</a:t>
            </a:r>
          </a:p>
          <a:p>
            <a:pPr algn="l">
              <a:spcAft>
                <a:spcPts val="900"/>
              </a:spcAft>
            </a:pPr>
            <a:r>
              <a:rPr lang="en-US" sz="2200">
                <a:solidFill>
                  <a:srgbClr val="FFF0CF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Streaming Multiprocessor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A mini-processor: ~128 cores, registers, shared memory, warp schedulers</a:t>
            </a:r>
          </a:p>
        </p:txBody>
      </p:sp>
      <p:sp>
        <p:nvSpPr>
          <p:cNvPr id="102" name="Level 3 card"/>
          <p:cNvSpPr/>
          <p:nvPr/>
        </p:nvSpPr>
        <p:spPr>
          <a:xfrm>
            <a:off x="9509760" y="256032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D94B2B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WARP</a:t>
            </a:r>
          </a:p>
          <a:p>
            <a:pPr algn="l">
              <a:spcAft>
                <a:spcPts val="900"/>
              </a:spcAft>
            </a:pPr>
            <a:r>
              <a:rPr lang="en-US" sz="2200">
                <a:solidFill>
                  <a:srgbClr val="FFF0CF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32 threads, 1 instruction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The unit the scheduler issues. All 32 move in lockstep</a:t>
            </a:r>
          </a:p>
        </p:txBody>
      </p:sp>
      <p:sp>
        <p:nvSpPr>
          <p:cNvPr id="103" name="Level 4 card"/>
          <p:cNvSpPr/>
          <p:nvPr/>
        </p:nvSpPr>
        <p:spPr>
          <a:xfrm>
            <a:off x="13807440" y="256032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633B2B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THREAD</a:t>
            </a:r>
          </a:p>
          <a:p>
            <a:pPr algn="l">
              <a:spcAft>
                <a:spcPts val="900"/>
              </a:spcAft>
            </a:pPr>
            <a:r>
              <a:rPr lang="en-US" sz="2200">
                <a:solidFill>
                  <a:srgbClr val="FFF0CF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One tiny worker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Handles one data item, like a single pixel</a:t>
            </a:r>
          </a:p>
        </p:txBody>
      </p:sp>
      <p:sp>
        <p:nvSpPr>
          <p:cNvPr id="104" name="Arrow 1"/>
          <p:cNvSpPr/>
          <p:nvPr/>
        </p:nvSpPr>
        <p:spPr>
          <a:xfrm>
            <a:off x="4572000" y="4663440"/>
            <a:ext cx="548640" cy="548640"/>
          </a:xfrm>
          <a:prstGeom prst="rightArrow">
            <a:avLst/>
          </a:prstGeom>
          <a:solidFill>
            <a:srgbClr val="17324D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5" name="Arrow 2"/>
          <p:cNvSpPr/>
          <p:nvPr/>
        </p:nvSpPr>
        <p:spPr>
          <a:xfrm>
            <a:off x="8869680" y="4663440"/>
            <a:ext cx="548640" cy="548640"/>
          </a:xfrm>
          <a:prstGeom prst="rightArrow">
            <a:avLst/>
          </a:prstGeom>
          <a:solidFill>
            <a:srgbClr val="17324D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6" name="Arrow 3"/>
          <p:cNvSpPr/>
          <p:nvPr/>
        </p:nvSpPr>
        <p:spPr>
          <a:xfrm>
            <a:off x="13167360" y="4663440"/>
            <a:ext cx="548640" cy="548640"/>
          </a:xfrm>
          <a:prstGeom prst="rightArrow">
            <a:avLst/>
          </a:prstGeom>
          <a:solidFill>
            <a:srgbClr val="17324D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7" name="Example banner"/>
          <p:cNvSpPr/>
          <p:nvPr/>
        </p:nvSpPr>
        <p:spPr>
          <a:xfrm>
            <a:off x="914400" y="7680960"/>
            <a:ext cx="16459200" cy="1097280"/>
          </a:xfrm>
          <a:prstGeom prst="roundRect">
            <a:avLst>
              <a:gd name="adj" fmla="val 20000"/>
            </a:avLst>
          </a:prstGeom>
          <a:solidFill>
            <a:srgbClr val="FFFAF0"/>
          </a:solidFill>
          <a:ln>
            <a:noFill/>
          </a:ln>
        </p:spPr>
        <p:txBody>
          <a:bodyPr wrap="square" lIns="228600" tIns="228600" rIns="228600" bIns="228600" anchor="ctr" rtlCol="0">
            <a:noAutofit/>
          </a:bodyPr>
          <a:lstStyle/>
          <a:p>
            <a:pPr algn="ctr"/>
            <a:r>
              <a:rPr lang="en-US" sz="28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Example: RTX 4090 = 128 SMs × 128 cores = 16,384 CUDA cores</a:t>
            </a:r>
          </a:p>
        </p:txBody>
      </p:sp>
      <p:sp>
        <p:nvSpPr>
          <p:cNvPr id="90" name="Back to agenda">
            <a:hlinkClick r:id="rId50" action="ppaction://hlinksldjump"/>
          </p:cNvPr>
          <p:cNvSpPr/>
          <p:nvPr/>
        </p:nvSpPr>
        <p:spPr>
          <a:xfrm>
            <a:off x="14904720" y="932688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7324D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2000" b="true">
                <a:solidFill>
                  <a:srgbClr val="FFFAF0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← Agenda</a:t>
            </a:r>
          </a:p>
        </p:txBody>
      </p:sp>
      <p:sp>
        <p:nvSpPr>
          <p:cNvPr id="91" name="Click hint"/>
          <p:cNvSpPr txBox="1"/>
          <p:nvPr/>
        </p:nvSpPr>
        <p:spPr>
          <a:xfrm>
            <a:off x="1371600" y="932688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0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to reveal 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1" grpId="0" animBg="1"/>
      <p:bldP spid="105" grpId="0" animBg="1"/>
      <p:bldP spid="102" grpId="0" animBg="1"/>
      <p:bldP spid="106" grpId="0" animBg="1"/>
      <p:bldP spid="103" grpId="0" animBg="1"/>
      <p:bldP spid="107" grpId="0" animBg="1"/>
    </p:bld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Latency Hiding: Never Idle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13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Latency Hiding: Never Idle</a:t>
            </a:r>
          </a:p>
        </p:txBody>
      </p:sp>
      <p:sp>
        <p:nvSpPr>
          <p:cNvPr id="98" name="Sub"/>
          <p:cNvSpPr txBox="1"/>
          <p:nvPr/>
        </p:nvSpPr>
        <p:spPr>
          <a:xfrm>
            <a:off x="914400" y="1783080"/>
            <a:ext cx="155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>
                <a:solidFill>
                  <a:srgbClr val="633B2B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Memory is slow. Watch how each processor deals with the wait.</a:t>
            </a:r>
          </a:p>
        </p:txBody>
      </p:sp>
      <p:sp>
        <p:nvSpPr>
          <p:cNvPr id="100" name="CPU label"/>
          <p:cNvSpPr txBox="1"/>
          <p:nvPr/>
        </p:nvSpPr>
        <p:spPr>
          <a:xfrm>
            <a:off x="914400" y="274320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8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CPU core</a:t>
            </a:r>
          </a:p>
          <a:p>
            <a:pPr algn="l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stalls and waits</a:t>
            </a:r>
          </a:p>
        </p:txBody>
      </p:sp>
      <p:sp>
        <p:nvSpPr>
          <p:cNvPr id="101" name="CPU run 1"/>
          <p:cNvSpPr/>
          <p:nvPr/>
        </p:nvSpPr>
        <p:spPr>
          <a:xfrm>
            <a:off x="4846320" y="2743200"/>
            <a:ext cx="2560320" cy="1097280"/>
          </a:xfrm>
          <a:prstGeom prst="rect">
            <a:avLst/>
          </a:prstGeom>
          <a:solidFill>
            <a:srgbClr val="247F78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6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RUN</a:t>
            </a:r>
          </a:p>
        </p:txBody>
      </p:sp>
      <p:sp>
        <p:nvSpPr>
          <p:cNvPr id="102" name="CPU wait"/>
          <p:cNvSpPr/>
          <p:nvPr/>
        </p:nvSpPr>
        <p:spPr>
          <a:xfrm>
            <a:off x="7406640" y="2743200"/>
            <a:ext cx="5852160" cy="1097280"/>
          </a:xfrm>
          <a:prstGeom prst="rect">
            <a:avLst/>
          </a:prstGeom>
          <a:solidFill>
            <a:srgbClr val="D94B2B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2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WAIT: memory takes 100s of cycles</a:t>
            </a:r>
          </a:p>
        </p:txBody>
      </p:sp>
      <p:sp>
        <p:nvSpPr>
          <p:cNvPr id="103" name="CPU run 2"/>
          <p:cNvSpPr/>
          <p:nvPr/>
        </p:nvSpPr>
        <p:spPr>
          <a:xfrm>
            <a:off x="13258800" y="2743200"/>
            <a:ext cx="3474720" cy="1097280"/>
          </a:xfrm>
          <a:prstGeom prst="rect">
            <a:avLst/>
          </a:prstGeom>
          <a:solidFill>
            <a:srgbClr val="247F78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6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RUN</a:t>
            </a:r>
          </a:p>
        </p:txBody>
      </p:sp>
      <p:sp>
        <p:nvSpPr>
          <p:cNvPr id="104" name="GPU label"/>
          <p:cNvSpPr txBox="1"/>
          <p:nvPr/>
        </p:nvSpPr>
        <p:spPr>
          <a:xfrm>
            <a:off x="914400" y="448056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8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GPU SM</a:t>
            </a:r>
          </a:p>
          <a:p>
            <a:pPr algn="l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swaps to another warp</a:t>
            </a:r>
          </a:p>
        </p:txBody>
      </p:sp>
      <p:sp>
        <p:nvSpPr>
          <p:cNvPr id="105" name="GPU block 1"/>
          <p:cNvSpPr/>
          <p:nvPr/>
        </p:nvSpPr>
        <p:spPr>
          <a:xfrm>
            <a:off x="4846320" y="4480560"/>
            <a:ext cx="2377440" cy="1097280"/>
          </a:xfrm>
          <a:prstGeom prst="rect">
            <a:avLst/>
          </a:prstGeom>
          <a:solidFill>
            <a:srgbClr val="247F78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2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Warp A</a:t>
            </a:r>
          </a:p>
        </p:txBody>
      </p:sp>
      <p:sp>
        <p:nvSpPr>
          <p:cNvPr id="106" name="GPU block 2"/>
          <p:cNvSpPr/>
          <p:nvPr/>
        </p:nvSpPr>
        <p:spPr>
          <a:xfrm>
            <a:off x="7223760" y="4480560"/>
            <a:ext cx="2377440" cy="1097280"/>
          </a:xfrm>
          <a:prstGeom prst="rect">
            <a:avLst/>
          </a:prstGeom>
          <a:solidFill>
            <a:srgbClr val="17324D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2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Warp B</a:t>
            </a:r>
          </a:p>
        </p:txBody>
      </p:sp>
      <p:sp>
        <p:nvSpPr>
          <p:cNvPr id="107" name="GPU block 3"/>
          <p:cNvSpPr/>
          <p:nvPr/>
        </p:nvSpPr>
        <p:spPr>
          <a:xfrm>
            <a:off x="9601200" y="4480560"/>
            <a:ext cx="2377440" cy="1097280"/>
          </a:xfrm>
          <a:prstGeom prst="rect">
            <a:avLst/>
          </a:prstGeom>
          <a:solidFill>
            <a:srgbClr val="633B2B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2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Warp C</a:t>
            </a:r>
          </a:p>
        </p:txBody>
      </p:sp>
      <p:sp>
        <p:nvSpPr>
          <p:cNvPr id="108" name="GPU block 4"/>
          <p:cNvSpPr/>
          <p:nvPr/>
        </p:nvSpPr>
        <p:spPr>
          <a:xfrm>
            <a:off x="11978640" y="4480560"/>
            <a:ext cx="2377440" cy="1097280"/>
          </a:xfrm>
          <a:prstGeom prst="rect">
            <a:avLst/>
          </a:prstGeom>
          <a:solidFill>
            <a:srgbClr val="A0522D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2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Warp D</a:t>
            </a:r>
          </a:p>
        </p:txBody>
      </p:sp>
      <p:sp>
        <p:nvSpPr>
          <p:cNvPr id="109" name="GPU block 5"/>
          <p:cNvSpPr/>
          <p:nvPr/>
        </p:nvSpPr>
        <p:spPr>
          <a:xfrm>
            <a:off x="14356080" y="4480560"/>
            <a:ext cx="2377440" cy="1097280"/>
          </a:xfrm>
          <a:prstGeom prst="rect">
            <a:avLst/>
          </a:prstGeom>
          <a:solidFill>
            <a:srgbClr val="247F78"/>
          </a:solidFill>
          <a:ln w="28575">
            <a:solidFill>
              <a:srgbClr val="FFFAF0"/>
            </a:solidFill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2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Warp A again</a:t>
            </a:r>
          </a:p>
        </p:txBody>
      </p:sp>
      <p:sp>
        <p:nvSpPr>
          <p:cNvPr id="110" name="CPU strategy"/>
          <p:cNvSpPr/>
          <p:nvPr/>
        </p:nvSpPr>
        <p:spPr>
          <a:xfrm>
            <a:off x="914400" y="6309360"/>
            <a:ext cx="7863840" cy="2560320"/>
          </a:xfrm>
          <a:prstGeom prst="roundRect">
            <a:avLst>
              <a:gd name="adj" fmla="val 7000"/>
            </a:avLst>
          </a:prstGeom>
          <a:solidFill>
            <a:srgbClr val="17324D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26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CPU strategy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Hide slow memory with big caches and smart branch prediction.</a:t>
            </a:r>
          </a:p>
        </p:txBody>
      </p:sp>
      <p:sp>
        <p:nvSpPr>
          <p:cNvPr id="111" name="GPU strategy"/>
          <p:cNvSpPr/>
          <p:nvPr/>
        </p:nvSpPr>
        <p:spPr>
          <a:xfrm>
            <a:off x="9509760" y="6309360"/>
            <a:ext cx="7863840" cy="2560320"/>
          </a:xfrm>
          <a:prstGeom prst="roundRect">
            <a:avLst>
              <a:gd name="adj" fmla="val 7000"/>
            </a:avLst>
          </a:prstGeom>
          <a:solidFill>
            <a:srgbClr val="247F78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26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GPU strategy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Keep thousands of threads in flight. When one warp stalls, the scheduler issues another at almost no cost.</a:t>
            </a:r>
          </a:p>
        </p:txBody>
      </p:sp>
      <p:sp>
        <p:nvSpPr>
          <p:cNvPr id="90" name="Back to agenda">
            <a:hlinkClick r:id="rId50" action="ppaction://hlinksldjump"/>
          </p:cNvPr>
          <p:cNvSpPr/>
          <p:nvPr/>
        </p:nvSpPr>
        <p:spPr>
          <a:xfrm>
            <a:off x="14904720" y="932688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7324D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2000" b="true">
                <a:solidFill>
                  <a:srgbClr val="FFFAF0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← Agenda</a:t>
            </a:r>
          </a:p>
        </p:txBody>
      </p:sp>
      <p:sp>
        <p:nvSpPr>
          <p:cNvPr id="91" name="Click hint"/>
          <p:cNvSpPr txBox="1"/>
          <p:nvPr/>
        </p:nvSpPr>
        <p:spPr>
          <a:xfrm>
            <a:off x="1371600" y="932688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0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to reveal 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animBg="1"/>
      <p:bldP spid="102" grpId="0" animBg="1"/>
      <p:bldP spid="103" grpId="0" animBg="1"/>
      <p:bldP spid="104" grpId="0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</p:bld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Memory: Latency vs Bandwidth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16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Memory: Latency vs Bandwidth</a:t>
            </a:r>
          </a:p>
        </p:txBody>
      </p:sp>
      <p:sp>
        <p:nvSpPr>
          <p:cNvPr id="98" name="Sub"/>
          <p:cNvSpPr txBox="1"/>
          <p:nvPr/>
        </p:nvSpPr>
        <p:spPr>
          <a:xfrm>
            <a:off x="914400" y="1783080"/>
            <a:ext cx="155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>
                <a:solidFill>
                  <a:srgbClr val="633B2B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Peak theoretical bandwidth of typical parts: how much data per second</a:t>
            </a:r>
          </a:p>
        </p:txBody>
      </p:sp>
      <p:sp>
        <p:nvSpPr>
          <p:cNvPr id="100" name="CPU RAM label"/>
          <p:cNvSpPr txBox="1"/>
          <p:nvPr/>
        </p:nvSpPr>
        <p:spPr>
          <a:xfrm>
            <a:off x="914400" y="25146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CPU RAM</a:t>
            </a:r>
          </a:p>
          <a:p>
            <a:pPr algn="l"/>
            <a:r>
              <a:rPr lang="en-US" sz="20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dual-channel DDR5</a:t>
            </a:r>
          </a:p>
        </p:txBody>
      </p:sp>
      <p:sp>
        <p:nvSpPr>
          <p:cNvPr id="101" name="CPU RAM bar"/>
          <p:cNvSpPr/>
          <p:nvPr/>
        </p:nvSpPr>
        <p:spPr>
          <a:xfrm>
            <a:off x="5852160" y="2514600"/>
            <a:ext cx="221094" cy="86868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2" name="CPU RAM value"/>
          <p:cNvSpPr txBox="1"/>
          <p:nvPr/>
        </p:nvSpPr>
        <p:spPr>
          <a:xfrm>
            <a:off x="6301854" y="251460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6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≈ 90 GB/s</a:t>
            </a:r>
          </a:p>
        </p:txBody>
      </p:sp>
      <p:sp>
        <p:nvSpPr>
          <p:cNvPr id="103" name="Gaming GPU label"/>
          <p:cNvSpPr txBox="1"/>
          <p:nvPr/>
        </p:nvSpPr>
        <p:spPr>
          <a:xfrm>
            <a:off x="914400" y="370332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Gaming GPU</a:t>
            </a:r>
          </a:p>
          <a:p>
            <a:pPr algn="l"/>
            <a:r>
              <a:rPr lang="en-US" sz="20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GDDR6X, RTX 4090</a:t>
            </a:r>
          </a:p>
        </p:txBody>
      </p:sp>
      <p:sp>
        <p:nvSpPr>
          <p:cNvPr id="104" name="Gaming GPU bar"/>
          <p:cNvSpPr/>
          <p:nvPr/>
        </p:nvSpPr>
        <p:spPr>
          <a:xfrm>
            <a:off x="5852160" y="3703320"/>
            <a:ext cx="2476250" cy="868680"/>
          </a:xfrm>
          <a:prstGeom prst="rect">
            <a:avLst/>
          </a:prstGeom>
          <a:solidFill>
            <a:srgbClr val="247F78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5" name="Gaming GPU value"/>
          <p:cNvSpPr txBox="1"/>
          <p:nvPr/>
        </p:nvSpPr>
        <p:spPr>
          <a:xfrm>
            <a:off x="8557010" y="370332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6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≈ 1,000 GB/s</a:t>
            </a:r>
          </a:p>
        </p:txBody>
      </p:sp>
      <p:sp>
        <p:nvSpPr>
          <p:cNvPr id="106" name="Data-centre GPU label"/>
          <p:cNvSpPr txBox="1"/>
          <p:nvPr/>
        </p:nvSpPr>
        <p:spPr>
          <a:xfrm>
            <a:off x="914400" y="489204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Data-centre GPU</a:t>
            </a:r>
          </a:p>
          <a:p>
            <a:pPr algn="l"/>
            <a:r>
              <a:rPr lang="en-US" sz="20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HBM3, H100</a:t>
            </a:r>
          </a:p>
        </p:txBody>
      </p:sp>
      <p:sp>
        <p:nvSpPr>
          <p:cNvPr id="107" name="Data-centre GPU bar"/>
          <p:cNvSpPr/>
          <p:nvPr/>
        </p:nvSpPr>
        <p:spPr>
          <a:xfrm>
            <a:off x="5852160" y="4892040"/>
            <a:ext cx="8229600" cy="868680"/>
          </a:xfrm>
          <a:prstGeom prst="rect">
            <a:avLst/>
          </a:prstGeom>
          <a:solidFill>
            <a:srgbClr val="D94B2B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8" name="Data-centre GPU value"/>
          <p:cNvSpPr txBox="1"/>
          <p:nvPr/>
        </p:nvSpPr>
        <p:spPr>
          <a:xfrm>
            <a:off x="14310360" y="4892040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6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≈ 3,350 GB/s</a:t>
            </a:r>
          </a:p>
        </p:txBody>
      </p:sp>
      <p:sp>
        <p:nvSpPr>
          <p:cNvPr id="110" name="PCIe card"/>
          <p:cNvSpPr/>
          <p:nvPr/>
        </p:nvSpPr>
        <p:spPr>
          <a:xfrm>
            <a:off x="914400" y="6217920"/>
            <a:ext cx="7863840" cy="2651760"/>
          </a:xfrm>
          <a:prstGeom prst="roundRect">
            <a:avLst>
              <a:gd name="adj" fmla="val 7000"/>
            </a:avLst>
          </a:prstGeom>
          <a:solidFill>
            <a:srgbClr val="17324D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26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PCIe: the narrow bridge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PCIe 4.0 ×16 moves only ≈ 32 GB/s between CPU RAM and VRAM. Copy once, compute a lot.</a:t>
            </a:r>
          </a:p>
        </p:txBody>
      </p:sp>
      <p:sp>
        <p:nvSpPr>
          <p:cNvPr id="111" name="Coalescing card"/>
          <p:cNvSpPr/>
          <p:nvPr/>
        </p:nvSpPr>
        <p:spPr>
          <a:xfrm>
            <a:off x="9509760" y="6217920"/>
            <a:ext cx="7863840" cy="2651760"/>
          </a:xfrm>
          <a:prstGeom prst="roundRect">
            <a:avLst>
              <a:gd name="adj" fmla="val 7000"/>
            </a:avLst>
          </a:prstGeom>
          <a:solidFill>
            <a:srgbClr val="247F78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500"/>
              </a:spcAft>
            </a:pPr>
            <a:r>
              <a:rPr lang="en-US" sz="26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Coalescing</a:t>
            </a:r>
          </a:p>
          <a:p>
            <a:pPr algn="l"/>
            <a:r>
              <a:rPr lang="en-US" sz="2400">
                <a:solidFill>
                  <a:srgbClr val="FFFAF0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Neighbouring threads read neighbouring addresses, so 32 small reads merge into one wide fetch.</a:t>
            </a:r>
          </a:p>
        </p:txBody>
      </p:sp>
      <p:sp>
        <p:nvSpPr>
          <p:cNvPr id="90" name="Back to agenda">
            <a:hlinkClick r:id="rId50" action="ppaction://hlinksldjump"/>
          </p:cNvPr>
          <p:cNvSpPr/>
          <p:nvPr/>
        </p:nvSpPr>
        <p:spPr>
          <a:xfrm>
            <a:off x="14904720" y="932688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7324D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2000" b="true">
                <a:solidFill>
                  <a:srgbClr val="FFFAF0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← Agenda</a:t>
            </a:r>
          </a:p>
        </p:txBody>
      </p:sp>
      <p:sp>
        <p:nvSpPr>
          <p:cNvPr id="91" name="Click hint"/>
          <p:cNvSpPr txBox="1"/>
          <p:nvPr/>
        </p:nvSpPr>
        <p:spPr>
          <a:xfrm>
            <a:off x="1371600" y="932688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0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to reveal 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animBg="1"/>
      <p:bldP spid="102" grpId="0"/>
      <p:bldP spid="103" grpId="0"/>
      <p:bldP spid="104" grpId="0" animBg="1"/>
      <p:bldP spid="105" grpId="0"/>
      <p:bldP spid="106" grpId="0"/>
      <p:bldP spid="107" grpId="0" animBg="1"/>
      <p:bldP spid="108" grpId="0"/>
      <p:bldP spid="110" grpId="0" animBg="1"/>
      <p:bldP spid="111" grpId="0" animBg="1"/>
    </p:bld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 Loop vs GPU Kernel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18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CPU Loop vs GPU Kernel</a:t>
            </a:r>
          </a:p>
        </p:txBody>
      </p:sp>
      <p:sp>
        <p:nvSpPr>
          <p:cNvPr id="100" name="CPU head"/>
          <p:cNvSpPr txBox="1"/>
          <p:nvPr/>
        </p:nvSpPr>
        <p:spPr>
          <a:xfrm>
            <a:off x="914400" y="1828800"/>
            <a:ext cx="7589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30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CPU: one loop</a:t>
            </a:r>
          </a:p>
        </p:txBody>
      </p:sp>
      <p:sp>
        <p:nvSpPr>
          <p:cNvPr id="101" name="CPU code"/>
          <p:cNvSpPr/>
          <p:nvPr/>
        </p:nvSpPr>
        <p:spPr>
          <a:xfrm>
            <a:off x="914400" y="2697480"/>
            <a:ext cx="7589520" cy="310896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>
            <a:noFill/>
          </a:ln>
        </p:spPr>
        <p:txBody>
          <a:bodyPr wrap="square" lIns="320040" tIns="320040" rIns="320040" bIns="320040" anchor="t" rtlCol="0">
            <a:noAutofit/>
          </a:bodyPr>
          <a:lstStyle/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for (int i = 0; i &lt; N; i++) {</a:t>
            </a:r>
          </a:p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c[i] = a[i] + b[i];</a:t>
            </a:r>
          </a:p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2" name="CPU caption"/>
          <p:cNvSpPr txBox="1"/>
          <p:nvPr/>
        </p:nvSpPr>
        <p:spPr>
          <a:xfrm>
            <a:off x="914400" y="5989320"/>
            <a:ext cx="75895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24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Visits the items one after another.</a:t>
            </a:r>
          </a:p>
        </p:txBody>
      </p:sp>
      <p:sp>
        <p:nvSpPr>
          <p:cNvPr id="103" name="GPU head"/>
          <p:cNvSpPr txBox="1"/>
          <p:nvPr/>
        </p:nvSpPr>
        <p:spPr>
          <a:xfrm>
            <a:off x="8869680" y="182880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30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GPU: one thread per item</a:t>
            </a:r>
          </a:p>
        </p:txBody>
      </p:sp>
      <p:sp>
        <p:nvSpPr>
          <p:cNvPr id="104" name="GPU code"/>
          <p:cNvSpPr/>
          <p:nvPr/>
        </p:nvSpPr>
        <p:spPr>
          <a:xfrm>
            <a:off x="8869680" y="2697480"/>
            <a:ext cx="8503920" cy="3108960"/>
          </a:xfrm>
          <a:prstGeom prst="roundRect">
            <a:avLst>
              <a:gd name="adj" fmla="val 5000"/>
            </a:avLst>
          </a:prstGeom>
          <a:solidFill>
            <a:srgbClr val="247F78"/>
          </a:solidFill>
          <a:ln>
            <a:noFill/>
          </a:ln>
        </p:spPr>
        <p:txBody>
          <a:bodyPr wrap="square" lIns="320040" tIns="320040" rIns="320040" bIns="320040" anchor="t" rtlCol="0">
            <a:noAutofit/>
          </a:bodyPr>
          <a:lstStyle/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__global__ void add(a, b, c, N) {</a:t>
            </a:r>
          </a:p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int i = blockIdx.x * blockDim.x</a:t>
            </a:r>
          </a:p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+ threadIdx.x;</a:t>
            </a:r>
          </a:p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if (i &lt; N) c[i] = a[i] + b[i];</a:t>
            </a:r>
          </a:p>
          <a:p>
            <a:pPr algn="l"/>
            <a:r>
              <a:rPr lang="en-US" sz="2400" b="true">
                <a:solidFill>
                  <a:srgbClr val="FFFAF0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}</a:t>
            </a:r>
          </a:p>
        </p:txBody>
      </p:sp>
      <p:sp>
        <p:nvSpPr>
          <p:cNvPr id="105" name="GPU caption"/>
          <p:cNvSpPr txBox="1"/>
          <p:nvPr/>
        </p:nvSpPr>
        <p:spPr>
          <a:xfrm>
            <a:off x="8869680" y="5989320"/>
            <a:ext cx="85039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/>
            <a:r>
              <a:rPr lang="en-US" sz="24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Thread i handles item i. All threads launch together.</a:t>
            </a:r>
          </a:p>
        </p:txBody>
      </p:sp>
      <p:sp>
        <p:nvSpPr>
          <p:cNvPr id="106" name="Thread ID banner"/>
          <p:cNvSpPr/>
          <p:nvPr/>
        </p:nvSpPr>
        <p:spPr>
          <a:xfrm>
            <a:off x="914400" y="7589520"/>
            <a:ext cx="16459200" cy="1280160"/>
          </a:xfrm>
          <a:prstGeom prst="roundRect">
            <a:avLst>
              <a:gd name="adj" fmla="val 20000"/>
            </a:avLst>
          </a:prstGeom>
          <a:solidFill>
            <a:srgbClr val="FFFAF0"/>
          </a:solidFill>
          <a:ln>
            <a:noFill/>
          </a:ln>
        </p:spPr>
        <p:txBody>
          <a:bodyPr wrap="square" lIns="228600" tIns="228600" rIns="228600" bIns="228600" anchor="ctr" rtlCol="0">
            <a:noAutofit/>
          </a:bodyPr>
          <a:lstStyle/>
          <a:p>
            <a:pPr algn="ctr"/>
            <a:r>
              <a:rPr lang="en-US" sz="26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Thread ID = blockIdx × blockDim + threadIdx: a seat number for every worker</a:t>
            </a:r>
          </a:p>
        </p:txBody>
      </p:sp>
      <p:sp>
        <p:nvSpPr>
          <p:cNvPr id="90" name="Back to agenda">
            <a:hlinkClick r:id="rId50" action="ppaction://hlinksldjump"/>
          </p:cNvPr>
          <p:cNvSpPr/>
          <p:nvPr/>
        </p:nvSpPr>
        <p:spPr>
          <a:xfrm>
            <a:off x="14904720" y="932688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7324D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2000" b="true">
                <a:solidFill>
                  <a:srgbClr val="FFFAF0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← Agenda</a:t>
            </a:r>
          </a:p>
        </p:txBody>
      </p:sp>
      <p:sp>
        <p:nvSpPr>
          <p:cNvPr id="91" name="Click hint"/>
          <p:cNvSpPr txBox="1"/>
          <p:nvPr/>
        </p:nvSpPr>
        <p:spPr>
          <a:xfrm>
            <a:off x="1371600" y="932688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0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to reveal 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animBg="1"/>
      <p:bldP spid="102" grpId="0"/>
      <p:bldP spid="103" grpId="0"/>
      <p:bldP spid="104" grpId="0" animBg="1"/>
      <p:bldP spid="105" grpId="0"/>
      <p:bldP spid="106" grpId="0" animBg="1"/>
    </p:bldLst>
  </p:timing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Amdahl’s Law: Try the Numbers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20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Amdahl’s Law: Try the Numbers</a:t>
            </a:r>
          </a:p>
        </p:txBody>
      </p:sp>
      <p:sp>
        <p:nvSpPr>
          <p:cNvPr id="98" name="Formula"/>
          <p:cNvSpPr/>
          <p:nvPr/>
        </p:nvSpPr>
        <p:spPr>
          <a:xfrm>
            <a:off x="914400" y="1920240"/>
            <a:ext cx="16459200" cy="1051560"/>
          </a:xfrm>
          <a:prstGeom prst="roundRect">
            <a:avLst>
              <a:gd name="adj" fmla="val 20000"/>
            </a:avLst>
          </a:prstGeom>
          <a:solidFill>
            <a:srgbClr val="17324D"/>
          </a:solidFill>
          <a:ln>
            <a:noFill/>
          </a:ln>
        </p:spPr>
        <p:txBody>
          <a:bodyPr wrap="square" lIns="228600" tIns="228600" rIns="228600" bIns="228600" anchor="ctr" rtlCol="0">
            <a:noAutofit/>
          </a:bodyPr>
          <a:lstStyle/>
          <a:p>
            <a:pPr algn="ctr"/>
            <a:r>
              <a:rPr lang="en-US" sz="34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Speedup = 1 / ((1 − p) + p / N)</a:t>
            </a:r>
          </a:p>
        </p:txBody>
      </p:sp>
      <p:sp>
        <p:nvSpPr>
          <p:cNvPr id="99" name="Legend"/>
          <p:cNvSpPr txBox="1"/>
          <p:nvPr/>
        </p:nvSpPr>
        <p:spPr>
          <a:xfrm>
            <a:off x="914400" y="3108960"/>
            <a:ext cx="16459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p = share of the work that can run in parallel   •   N = 1,000 cores</a:t>
            </a:r>
          </a:p>
        </p:txBody>
      </p:sp>
      <p:sp>
        <p:nvSpPr>
          <p:cNvPr id="100" name="50% parallel label"/>
          <p:cNvSpPr/>
          <p:nvPr/>
        </p:nvSpPr>
        <p:spPr>
          <a:xfrm>
            <a:off x="914400" y="3977640"/>
            <a:ext cx="3657600" cy="868680"/>
          </a:xfrm>
          <a:prstGeom prst="roundRect">
            <a:avLst>
              <a:gd name="adj" fmla="val 15000"/>
            </a:avLst>
          </a:prstGeom>
          <a:solidFill>
            <a:srgbClr val="247F78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4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50% parallel</a:t>
            </a:r>
          </a:p>
        </p:txBody>
      </p:sp>
      <p:sp>
        <p:nvSpPr>
          <p:cNvPr id="101" name="50% parallel bar"/>
          <p:cNvSpPr/>
          <p:nvPr/>
        </p:nvSpPr>
        <p:spPr>
          <a:xfrm>
            <a:off x="4846320" y="3977640"/>
            <a:ext cx="155293" cy="868680"/>
          </a:xfrm>
          <a:prstGeom prst="rect">
            <a:avLst/>
          </a:prstGeom>
          <a:solidFill>
            <a:srgbClr val="D94B2B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2" name="50% parallel value"/>
          <p:cNvSpPr txBox="1"/>
          <p:nvPr/>
        </p:nvSpPr>
        <p:spPr>
          <a:xfrm>
            <a:off x="5230213" y="397764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≈ 2×   (limit 2×)</a:t>
            </a:r>
          </a:p>
        </p:txBody>
      </p:sp>
      <p:sp>
        <p:nvSpPr>
          <p:cNvPr id="103" name="90% parallel label"/>
          <p:cNvSpPr/>
          <p:nvPr/>
        </p:nvSpPr>
        <p:spPr>
          <a:xfrm>
            <a:off x="914400" y="5029200"/>
            <a:ext cx="3657600" cy="868680"/>
          </a:xfrm>
          <a:prstGeom prst="roundRect">
            <a:avLst>
              <a:gd name="adj" fmla="val 15000"/>
            </a:avLst>
          </a:prstGeom>
          <a:solidFill>
            <a:srgbClr val="247F78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4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90% parallel</a:t>
            </a:r>
          </a:p>
        </p:txBody>
      </p:sp>
      <p:sp>
        <p:nvSpPr>
          <p:cNvPr id="104" name="90% parallel bar"/>
          <p:cNvSpPr/>
          <p:nvPr/>
        </p:nvSpPr>
        <p:spPr>
          <a:xfrm>
            <a:off x="4846320" y="5029200"/>
            <a:ext cx="770245" cy="868680"/>
          </a:xfrm>
          <a:prstGeom prst="rect">
            <a:avLst/>
          </a:prstGeom>
          <a:solidFill>
            <a:srgbClr val="D94B2B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5" name="90% parallel value"/>
          <p:cNvSpPr txBox="1"/>
          <p:nvPr/>
        </p:nvSpPr>
        <p:spPr>
          <a:xfrm>
            <a:off x="5845165" y="502920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≈ 9.9×   (limit 10×)</a:t>
            </a:r>
          </a:p>
        </p:txBody>
      </p:sp>
      <p:sp>
        <p:nvSpPr>
          <p:cNvPr id="106" name="95% parallel label"/>
          <p:cNvSpPr/>
          <p:nvPr/>
        </p:nvSpPr>
        <p:spPr>
          <a:xfrm>
            <a:off x="914400" y="6080760"/>
            <a:ext cx="3657600" cy="868680"/>
          </a:xfrm>
          <a:prstGeom prst="roundRect">
            <a:avLst>
              <a:gd name="adj" fmla="val 15000"/>
            </a:avLst>
          </a:prstGeom>
          <a:solidFill>
            <a:srgbClr val="247F78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4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95% parallel</a:t>
            </a:r>
          </a:p>
        </p:txBody>
      </p:sp>
      <p:sp>
        <p:nvSpPr>
          <p:cNvPr id="107" name="95% parallel bar"/>
          <p:cNvSpPr/>
          <p:nvPr/>
        </p:nvSpPr>
        <p:spPr>
          <a:xfrm>
            <a:off x="4846320" y="6080760"/>
            <a:ext cx="1525722" cy="868680"/>
          </a:xfrm>
          <a:prstGeom prst="rect">
            <a:avLst/>
          </a:prstGeom>
          <a:solidFill>
            <a:srgbClr val="D94B2B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08" name="95% parallel value"/>
          <p:cNvSpPr txBox="1"/>
          <p:nvPr/>
        </p:nvSpPr>
        <p:spPr>
          <a:xfrm>
            <a:off x="6600642" y="608076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≈ 19.6×   (limit 20×)</a:t>
            </a:r>
          </a:p>
        </p:txBody>
      </p:sp>
      <p:sp>
        <p:nvSpPr>
          <p:cNvPr id="109" name="99% parallel label"/>
          <p:cNvSpPr/>
          <p:nvPr/>
        </p:nvSpPr>
        <p:spPr>
          <a:xfrm>
            <a:off x="914400" y="7132320"/>
            <a:ext cx="3657600" cy="868680"/>
          </a:xfrm>
          <a:prstGeom prst="roundRect">
            <a:avLst>
              <a:gd name="adj" fmla="val 15000"/>
            </a:avLst>
          </a:prstGeom>
          <a:solidFill>
            <a:srgbClr val="247F78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/>
            <a:r>
              <a:rPr lang="en-US" sz="24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99% parallel</a:t>
            </a:r>
          </a:p>
        </p:txBody>
      </p:sp>
      <p:sp>
        <p:nvSpPr>
          <p:cNvPr id="110" name="99% parallel bar"/>
          <p:cNvSpPr/>
          <p:nvPr/>
        </p:nvSpPr>
        <p:spPr>
          <a:xfrm>
            <a:off x="4846320" y="7132320"/>
            <a:ext cx="7072107" cy="868680"/>
          </a:xfrm>
          <a:prstGeom prst="rect">
            <a:avLst/>
          </a:prstGeom>
          <a:solidFill>
            <a:srgbClr val="D94B2B"/>
          </a:solidFill>
          <a:ln>
            <a:noFill/>
          </a:ln>
        </p:spPr>
        <p:txBody>
          <a:bodyPr wrap="square" lIns="228600" tIns="228600" rIns="228600" bIns="228600" anchor="t" rtlCol="0">
            <a:noAutofit/>
          </a:bodyPr>
          <a:lstStyle/>
          <a:p>
            <a:endParaRPr lang="en-US"/>
          </a:p>
        </p:txBody>
      </p:sp>
      <p:sp>
        <p:nvSpPr>
          <p:cNvPr id="111" name="99% parallel value"/>
          <p:cNvSpPr txBox="1"/>
          <p:nvPr/>
        </p:nvSpPr>
        <p:spPr>
          <a:xfrm>
            <a:off x="12147027" y="713232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 b="true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≈ 91×   (limit 100×)</a:t>
            </a:r>
          </a:p>
        </p:txBody>
      </p:sp>
      <p:sp>
        <p:nvSpPr>
          <p:cNvPr id="112" name="Takeaway"/>
          <p:cNvSpPr/>
          <p:nvPr/>
        </p:nvSpPr>
        <p:spPr>
          <a:xfrm>
            <a:off x="914400" y="8321040"/>
            <a:ext cx="16459200" cy="822960"/>
          </a:xfrm>
          <a:prstGeom prst="roundRect">
            <a:avLst>
              <a:gd name="adj" fmla="val 20000"/>
            </a:avLst>
          </a:prstGeom>
          <a:solidFill>
            <a:srgbClr val="FFFAF0"/>
          </a:solidFill>
          <a:ln>
            <a:noFill/>
          </a:ln>
        </p:spPr>
        <p:txBody>
          <a:bodyPr wrap="square" lIns="228600" tIns="228600" rIns="228600" bIns="228600" anchor="ctr" rtlCol="0">
            <a:noAutofit/>
          </a:bodyPr>
          <a:lstStyle/>
          <a:p>
            <a:pPr algn="ctr"/>
            <a:r>
              <a:rPr lang="en-US" sz="26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Even 5% serial work caps 1,000 cores at about 20×.</a:t>
            </a:r>
          </a:p>
        </p:txBody>
      </p:sp>
      <p:sp>
        <p:nvSpPr>
          <p:cNvPr id="90" name="Back to agenda">
            <a:hlinkClick r:id="rId50" action="ppaction://hlinksldjump"/>
          </p:cNvPr>
          <p:cNvSpPr/>
          <p:nvPr/>
        </p:nvSpPr>
        <p:spPr>
          <a:xfrm>
            <a:off x="14904720" y="932688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7324D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2000" b="true">
                <a:solidFill>
                  <a:srgbClr val="FFFAF0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← Agenda</a:t>
            </a:r>
          </a:p>
        </p:txBody>
      </p:sp>
      <p:sp>
        <p:nvSpPr>
          <p:cNvPr id="91" name="Click hint"/>
          <p:cNvSpPr txBox="1"/>
          <p:nvPr/>
        </p:nvSpPr>
        <p:spPr>
          <a:xfrm>
            <a:off x="1371600" y="932688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0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to reveal 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02" grpId="0"/>
      <p:bldP spid="103" grpId="0" animBg="1"/>
      <p:bldP spid="104" grpId="0" animBg="1"/>
      <p:bldP spid="105" grpId="0"/>
      <p:bldP spid="106" grpId="0" animBg="1"/>
      <p:bldP spid="107" grpId="0" animBg="1"/>
      <p:bldP spid="108" grpId="0"/>
      <p:bldP spid="109" grpId="0" animBg="1"/>
      <p:bldP spid="110" grpId="0" animBg="1"/>
      <p:bldP spid="111" grpId="0"/>
      <p:bldP spid="112" grpId="0" animBg="1"/>
    </p:bldLst>
  </p:timing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A5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567" y="98845"/>
            <a:ext cx="15133965" cy="10089310"/>
          </a:xfrm>
          <a:custGeom>
            <a:avLst/>
            <a:gdLst/>
            <a:ahLst/>
            <a:cxnLst/>
            <a:rect r="r" b="b" t="t" l="l"/>
            <a:pathLst>
              <a:path h="10089310" w="15133965">
                <a:moveTo>
                  <a:pt x="0" y="0"/>
                </a:moveTo>
                <a:lnTo>
                  <a:pt x="15133966" y="0"/>
                </a:lnTo>
                <a:lnTo>
                  <a:pt x="15133966" y="10089310"/>
                </a:lnTo>
                <a:lnTo>
                  <a:pt x="0" y="10089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324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6250" y="-1000125"/>
            <a:ext cx="2857500" cy="2857500"/>
            <a:chOff x="0" y="0"/>
            <a:chExt cx="3810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ED713C"/>
            </a:solidFill>
            <a:ln w="228600" cap="sq">
              <a:solidFill>
                <a:srgbClr val="FFF0C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8625" y="88582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47F78"/>
            </a:solidFill>
            <a:ln w="171450" cap="sq">
              <a:solidFill>
                <a:srgbClr val="17324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2975" y="10287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7324D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Pick the Processor!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476250"/>
            <a:ext cx="809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>24  •  COMPUTER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962025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Pick the Processor!</a:t>
            </a:r>
          </a:p>
        </p:txBody>
      </p:sp>
      <p:sp>
        <p:nvSpPr>
          <p:cNvPr id="98" name="Sub"/>
          <p:cNvSpPr txBox="1"/>
          <p:nvPr/>
        </p:nvSpPr>
        <p:spPr>
          <a:xfrm>
            <a:off x="914400" y="1783080"/>
            <a:ext cx="155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400">
                <a:solidFill>
                  <a:srgbClr val="633B2B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Decide first, then click to see the answer.</a:t>
            </a:r>
          </a:p>
        </p:txBody>
      </p:sp>
      <p:sp>
        <p:nvSpPr>
          <p:cNvPr id="100" name="Scenario 1"/>
          <p:cNvSpPr/>
          <p:nvPr/>
        </p:nvSpPr>
        <p:spPr>
          <a:xfrm>
            <a:off x="914400" y="2377440"/>
            <a:ext cx="7863840" cy="3017520"/>
          </a:xfrm>
          <a:prstGeom prst="roundRect">
            <a:avLst>
              <a:gd name="adj" fmla="val 7000"/>
            </a:avLst>
          </a:prstGeom>
          <a:solidFill>
            <a:srgbClr val="FFF0CF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8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SCENARIO 1</a:t>
            </a:r>
          </a:p>
          <a:p>
            <a:pPr algn="l"/>
            <a:r>
              <a:rPr lang="en-US" sz="26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Filter a 4K video: the same colour tweak on 8 million pixels</a:t>
            </a:r>
          </a:p>
        </p:txBody>
      </p:sp>
      <p:sp>
        <p:nvSpPr>
          <p:cNvPr id="110" name="Answer 1"/>
          <p:cNvSpPr/>
          <p:nvPr/>
        </p:nvSpPr>
        <p:spPr>
          <a:xfrm>
            <a:off x="1188720" y="4160520"/>
            <a:ext cx="1737360" cy="822960"/>
          </a:xfrm>
          <a:prstGeom prst="roundRect">
            <a:avLst>
              <a:gd name="adj" fmla="val 20000"/>
            </a:avLst>
          </a:prstGeom>
          <a:solidFill>
            <a:srgbClr val="D94B2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GPU</a:t>
            </a:r>
          </a:p>
        </p:txBody>
      </p:sp>
      <p:sp>
        <p:nvSpPr>
          <p:cNvPr id="120" name="Why 1"/>
          <p:cNvSpPr txBox="1"/>
          <p:nvPr/>
        </p:nvSpPr>
        <p:spPr>
          <a:xfrm>
            <a:off x="3108960" y="4023360"/>
            <a:ext cx="5394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Same maths on every pixel is pure data parallelism.</a:t>
            </a:r>
          </a:p>
        </p:txBody>
      </p:sp>
      <p:sp>
        <p:nvSpPr>
          <p:cNvPr id="101" name="Scenario 2"/>
          <p:cNvSpPr/>
          <p:nvPr/>
        </p:nvSpPr>
        <p:spPr>
          <a:xfrm>
            <a:off x="9509760" y="2377440"/>
            <a:ext cx="7863840" cy="3017520"/>
          </a:xfrm>
          <a:prstGeom prst="roundRect">
            <a:avLst>
              <a:gd name="adj" fmla="val 7000"/>
            </a:avLst>
          </a:prstGeom>
          <a:solidFill>
            <a:srgbClr val="FFF0CF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8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SCENARIO 2</a:t>
            </a:r>
          </a:p>
          <a:p>
            <a:pPr algn="l"/>
            <a:r>
              <a:rPr lang="en-US" sz="26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Decide which of 20 menu items the user just clicked</a:t>
            </a:r>
          </a:p>
        </p:txBody>
      </p:sp>
      <p:sp>
        <p:nvSpPr>
          <p:cNvPr id="111" name="Answer 2"/>
          <p:cNvSpPr/>
          <p:nvPr/>
        </p:nvSpPr>
        <p:spPr>
          <a:xfrm>
            <a:off x="9784080" y="4160520"/>
            <a:ext cx="1737360" cy="822960"/>
          </a:xfrm>
          <a:prstGeom prst="roundRect">
            <a:avLst>
              <a:gd name="adj" fmla="val 20000"/>
            </a:avLst>
          </a:prstGeom>
          <a:solidFill>
            <a:srgbClr val="247F78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CPU</a:t>
            </a:r>
          </a:p>
        </p:txBody>
      </p:sp>
      <p:sp>
        <p:nvSpPr>
          <p:cNvPr id="121" name="Why 2"/>
          <p:cNvSpPr txBox="1"/>
          <p:nvPr/>
        </p:nvSpPr>
        <p:spPr>
          <a:xfrm>
            <a:off x="11704320" y="4023360"/>
            <a:ext cx="5394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Small, branchy, one-off decisions: low latency wins.</a:t>
            </a:r>
          </a:p>
        </p:txBody>
      </p:sp>
      <p:sp>
        <p:nvSpPr>
          <p:cNvPr id="102" name="Scenario 3"/>
          <p:cNvSpPr/>
          <p:nvPr/>
        </p:nvSpPr>
        <p:spPr>
          <a:xfrm>
            <a:off x="914400" y="5669280"/>
            <a:ext cx="7863840" cy="3017520"/>
          </a:xfrm>
          <a:prstGeom prst="roundRect">
            <a:avLst>
              <a:gd name="adj" fmla="val 7000"/>
            </a:avLst>
          </a:prstGeom>
          <a:solidFill>
            <a:srgbClr val="FFF0CF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8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SCENARIO 3</a:t>
            </a:r>
          </a:p>
          <a:p>
            <a:pPr algn="l"/>
            <a:r>
              <a:rPr lang="en-US" sz="26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Train a neural network: billions of multiply-adds</a:t>
            </a:r>
          </a:p>
        </p:txBody>
      </p:sp>
      <p:sp>
        <p:nvSpPr>
          <p:cNvPr id="112" name="Answer 3"/>
          <p:cNvSpPr/>
          <p:nvPr/>
        </p:nvSpPr>
        <p:spPr>
          <a:xfrm>
            <a:off x="1188720" y="7452360"/>
            <a:ext cx="1737360" cy="822960"/>
          </a:xfrm>
          <a:prstGeom prst="roundRect">
            <a:avLst>
              <a:gd name="adj" fmla="val 20000"/>
            </a:avLst>
          </a:prstGeom>
          <a:solidFill>
            <a:srgbClr val="D94B2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GPU</a:t>
            </a:r>
          </a:p>
        </p:txBody>
      </p:sp>
      <p:sp>
        <p:nvSpPr>
          <p:cNvPr id="122" name="Why 3"/>
          <p:cNvSpPr txBox="1"/>
          <p:nvPr/>
        </p:nvSpPr>
        <p:spPr>
          <a:xfrm>
            <a:off x="3108960" y="7315200"/>
            <a:ext cx="5394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Matrix maths suits thousands of cores plus tensor cores.</a:t>
            </a:r>
          </a:p>
        </p:txBody>
      </p:sp>
      <p:sp>
        <p:nvSpPr>
          <p:cNvPr id="103" name="Scenario 4"/>
          <p:cNvSpPr/>
          <p:nvPr/>
        </p:nvSpPr>
        <p:spPr>
          <a:xfrm>
            <a:off x="9509760" y="5669280"/>
            <a:ext cx="7863840" cy="3017520"/>
          </a:xfrm>
          <a:prstGeom prst="roundRect">
            <a:avLst>
              <a:gd name="adj" fmla="val 7000"/>
            </a:avLst>
          </a:prstGeom>
          <a:solidFill>
            <a:srgbClr val="FFF0CF"/>
          </a:solidFill>
          <a:ln>
            <a:noFill/>
          </a:ln>
        </p:spPr>
        <p:txBody>
          <a:bodyPr wrap="square" lIns="274320" tIns="274320" rIns="274320" bIns="274320" anchor="t" rtlCol="0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8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SCENARIO 4</a:t>
            </a:r>
          </a:p>
          <a:p>
            <a:pPr algn="l"/>
            <a:r>
              <a:rPr lang="en-US" sz="26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Add up 10 numbers, just once</a:t>
            </a:r>
          </a:p>
        </p:txBody>
      </p:sp>
      <p:sp>
        <p:nvSpPr>
          <p:cNvPr id="113" name="Answer 4"/>
          <p:cNvSpPr/>
          <p:nvPr/>
        </p:nvSpPr>
        <p:spPr>
          <a:xfrm>
            <a:off x="9784080" y="7452360"/>
            <a:ext cx="1737360" cy="822960"/>
          </a:xfrm>
          <a:prstGeom prst="roundRect">
            <a:avLst>
              <a:gd name="adj" fmla="val 20000"/>
            </a:avLst>
          </a:prstGeom>
          <a:solidFill>
            <a:srgbClr val="247F78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3000" b="true">
                <a:solidFill>
                  <a:srgbClr val="FFFAF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 xml:space="preserve">CPU</a:t>
            </a:r>
          </a:p>
        </p:txBody>
      </p:sp>
      <p:sp>
        <p:nvSpPr>
          <p:cNvPr id="123" name="Why 4"/>
          <p:cNvSpPr txBox="1"/>
          <p:nvPr/>
        </p:nvSpPr>
        <p:spPr>
          <a:xfrm>
            <a:off x="11704320" y="7315200"/>
            <a:ext cx="5394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200">
                <a:solidFill>
                  <a:srgbClr val="17324D"/>
                </a:solidFill>
                <a:latin typeface="Bree Serif"/>
                <a:ea typeface="Bree Serif"/>
                <a:cs typeface="Bree Serif"/>
                <a:sym typeface="Bree Serif"/>
              </a:rPr>
              <a:t xml:space="preserve">Too small: copying over PCIe costs more than the maths.</a:t>
            </a:r>
          </a:p>
        </p:txBody>
      </p:sp>
      <p:sp>
        <p:nvSpPr>
          <p:cNvPr id="90" name="Back to agenda">
            <a:hlinkClick r:id="rId50" action="ppaction://hlinksldjump"/>
          </p:cNvPr>
          <p:cNvSpPr/>
          <p:nvPr/>
        </p:nvSpPr>
        <p:spPr>
          <a:xfrm>
            <a:off x="14904720" y="9326880"/>
            <a:ext cx="2468880" cy="566928"/>
          </a:xfrm>
          <a:prstGeom prst="roundRect">
            <a:avLst>
              <a:gd name="adj" fmla="val 30000"/>
            </a:avLst>
          </a:prstGeom>
          <a:solidFill>
            <a:srgbClr val="17324D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/>
            <a:r>
              <a:rPr lang="en-US" sz="2000" b="true">
                <a:solidFill>
                  <a:srgbClr val="FFFAF0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← Agenda</a:t>
            </a:r>
          </a:p>
        </p:txBody>
      </p:sp>
      <p:sp>
        <p:nvSpPr>
          <p:cNvPr id="91" name="Click hint"/>
          <p:cNvSpPr txBox="1"/>
          <p:nvPr/>
        </p:nvSpPr>
        <p:spPr>
          <a:xfrm>
            <a:off x="1371600" y="932688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/>
            <a:r>
              <a:rPr lang="en-US" sz="2000" b="true">
                <a:solidFill>
                  <a:srgbClr val="633B2B"/>
                </a:solidFill>
                <a:latin typeface="DM Sans Bold"/>
                <a:ea typeface="DM Sans Bold"/>
                <a:cs typeface="DM Sans Bold"/>
                <a:sym typeface="DM Sans Bold"/>
              </a:rPr>
              <a:t xml:space="preserve">Click to reveal  →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20" grpId="0"/>
      <p:bldP spid="111" grpId="0" animBg="1"/>
      <p:bldP spid="121" grpId="0"/>
      <p:bldP spid="112" grpId="0" animBg="1"/>
      <p:bldP spid="122" grpId="0"/>
      <p:bldP spid="113" grpId="0" animBg="1"/>
      <p:bldP spid="1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DAHXK50lU8c</dc:identifier>
  <dcterms:modified xsi:type="dcterms:W3CDTF">2011-08-01T06:04:30Z</dcterms:modified>
  <cp:revision>1</cp:revision>
  <dc:title>How GPU Differs from CPU</dc:title>
</cp:coreProperties>
</file>